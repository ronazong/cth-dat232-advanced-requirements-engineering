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2"/>
  </p:notesMasterIdLst>
  <p:sldIdLst>
    <p:sldId id="256" r:id="rId3"/>
    <p:sldId id="262" r:id="rId4"/>
    <p:sldId id="266" r:id="rId5"/>
    <p:sldId id="268" r:id="rId6"/>
    <p:sldId id="273" r:id="rId7"/>
    <p:sldId id="274" r:id="rId8"/>
    <p:sldId id="269" r:id="rId9"/>
    <p:sldId id="275" r:id="rId10"/>
    <p:sldId id="261"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E63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904" autoAdjust="0"/>
    <p:restoredTop sz="96301" autoAdjust="0"/>
  </p:normalViewPr>
  <p:slideViewPr>
    <p:cSldViewPr snapToGrid="0" snapToObjects="1">
      <p:cViewPr varScale="1">
        <p:scale>
          <a:sx n="98" d="100"/>
          <a:sy n="98" d="100"/>
        </p:scale>
        <p:origin x="208" y="712"/>
      </p:cViewPr>
      <p:guideLst>
        <p:guide orient="horz" pos="2160"/>
        <p:guide pos="2880"/>
      </p:guideLst>
    </p:cSldViewPr>
  </p:slideViewPr>
  <p:notesTextViewPr>
    <p:cViewPr>
      <p:scale>
        <a:sx n="3" d="2"/>
        <a:sy n="3" d="2"/>
      </p:scale>
      <p:origin x="0" y="0"/>
    </p:cViewPr>
  </p:notesTextViewPr>
  <p:sorterViewPr>
    <p:cViewPr>
      <p:scale>
        <a:sx n="80" d="100"/>
        <a:sy n="80" d="100"/>
      </p:scale>
      <p:origin x="0" y="-214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13663-A443-4A5E-A7D5-B0DA0EF26290}" type="datetimeFigureOut">
              <a:rPr lang="en-US" smtClean="0"/>
              <a:t>10/15/25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47A9B5-5341-4F20-98A9-9EF7503F3F71}" type="slidenum">
              <a:rPr lang="en-US" smtClean="0"/>
              <a:t>‹#›</a:t>
            </a:fld>
            <a:endParaRPr lang="en-US"/>
          </a:p>
        </p:txBody>
      </p:sp>
    </p:spTree>
    <p:extLst>
      <p:ext uri="{BB962C8B-B14F-4D97-AF65-F5344CB8AC3E}">
        <p14:creationId xmlns:p14="http://schemas.microsoft.com/office/powerpoint/2010/main" val="1139934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3CFC0-CE84-B3C1-A827-B2C8F3F07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5BA4F-84D6-3425-D61D-682C3C2CF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CC6B2-37EB-4E22-125A-830F9CDAE7C6}"/>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6DA8981-F3F9-6FEC-C187-795E51E4F2AE}"/>
              </a:ext>
            </a:extLst>
          </p:cNvPr>
          <p:cNvSpPr>
            <a:spLocks noGrp="1"/>
          </p:cNvSpPr>
          <p:nvPr>
            <p:ph type="sldNum" sz="quarter" idx="5"/>
          </p:nvPr>
        </p:nvSpPr>
        <p:spPr/>
        <p:txBody>
          <a:bodyPr/>
          <a:lstStyle/>
          <a:p>
            <a:fld id="{0047A9B5-5341-4F20-98A9-9EF7503F3F71}" type="slidenum">
              <a:rPr lang="en-US" smtClean="0"/>
              <a:t>2</a:t>
            </a:fld>
            <a:endParaRPr lang="en-US"/>
          </a:p>
        </p:txBody>
      </p:sp>
    </p:spTree>
    <p:extLst>
      <p:ext uri="{BB962C8B-B14F-4D97-AF65-F5344CB8AC3E}">
        <p14:creationId xmlns:p14="http://schemas.microsoft.com/office/powerpoint/2010/main" val="2064025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a:r>
            <a:r>
              <a:rPr lang="en-SE" dirty="0"/>
              <a:t>an be used as a practical guideline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Garamond" panose="02020404030301010803" pitchFamily="18" charset="0"/>
              </a:rPr>
              <a:t>110 clauses </a:t>
            </a:r>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Garamond" panose="02020404030301010803" pitchFamily="18" charset="0"/>
              </a:rPr>
              <a:t>a list of clauses given as specific advice to minimise the occurrence of the corresponding identified ethical concerns </a:t>
            </a:r>
            <a:endParaRPr lang="en-GB" dirty="0"/>
          </a:p>
          <a:p>
            <a:endParaRPr lang="en-SE" dirty="0"/>
          </a:p>
        </p:txBody>
      </p:sp>
      <p:sp>
        <p:nvSpPr>
          <p:cNvPr id="4" name="Slide Number Placeholder 3"/>
          <p:cNvSpPr>
            <a:spLocks noGrp="1"/>
          </p:cNvSpPr>
          <p:nvPr>
            <p:ph type="sldNum" sz="quarter" idx="5"/>
          </p:nvPr>
        </p:nvSpPr>
        <p:spPr/>
        <p:txBody>
          <a:bodyPr/>
          <a:lstStyle/>
          <a:p>
            <a:fld id="{0047A9B5-5341-4F20-98A9-9EF7503F3F71}" type="slidenum">
              <a:rPr lang="en-US" smtClean="0"/>
              <a:t>9</a:t>
            </a:fld>
            <a:endParaRPr lang="en-US"/>
          </a:p>
        </p:txBody>
      </p:sp>
    </p:spTree>
    <p:extLst>
      <p:ext uri="{BB962C8B-B14F-4D97-AF65-F5344CB8AC3E}">
        <p14:creationId xmlns:p14="http://schemas.microsoft.com/office/powerpoint/2010/main" val="173812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0728B0-E413-BE4E-9EF7-23FB03E7E772}" type="datetimeFigureOut">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272985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728B0-E413-BE4E-9EF7-23FB03E7E772}" type="datetimeFigureOut">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314176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728B0-E413-BE4E-9EF7-23FB03E7E772}" type="datetimeFigureOut">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1628644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0728B0-E413-BE4E-9EF7-23FB03E7E772}" type="datetimeFigureOut">
              <a:rPr lang="en-US" smtClean="0"/>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463137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0728B0-E413-BE4E-9EF7-23FB03E7E772}" type="datetimeFigureOut">
              <a:rPr lang="en-US" smtClean="0"/>
              <a:t>10/15/25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229473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0728B0-E413-BE4E-9EF7-23FB03E7E772}" type="datetimeFigureOut">
              <a:rPr lang="en-US" smtClean="0"/>
              <a:t>10/15/25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216318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728B0-E413-BE4E-9EF7-23FB03E7E772}" type="datetimeFigureOut">
              <a:rPr lang="en-US" smtClean="0"/>
              <a:t>10/15/25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1438054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728B0-E413-BE4E-9EF7-23FB03E7E772}" type="datetimeFigureOut">
              <a:rPr lang="en-US" smtClean="0"/>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86395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728B0-E413-BE4E-9EF7-23FB03E7E772}" type="datetimeFigureOut">
              <a:rPr lang="en-US" smtClean="0"/>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1036619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728B0-E413-BE4E-9EF7-23FB03E7E772}" type="datetimeFigureOut">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383321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0728B0-E413-BE4E-9EF7-23FB03E7E772}" type="datetimeFigureOut">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A7B289-726C-7841-82FC-9C4AD68EBC25}" type="slidenum">
              <a:rPr lang="en-US" smtClean="0"/>
              <a:t>‹#›</a:t>
            </a:fld>
            <a:endParaRPr lang="en-US"/>
          </a:p>
        </p:txBody>
      </p:sp>
    </p:spTree>
    <p:extLst>
      <p:ext uri="{BB962C8B-B14F-4D97-AF65-F5344CB8AC3E}">
        <p14:creationId xmlns:p14="http://schemas.microsoft.com/office/powerpoint/2010/main" val="3882794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7"/>
            <a:ext cx="7772400" cy="1470025"/>
          </a:xfrm>
        </p:spPr>
        <p:txBody>
          <a:bodyPr/>
          <a:lstStyle>
            <a:lvl1pPr>
              <a:defRPr>
                <a:latin typeface="Georgia" pitchFamily="18" charset="0"/>
              </a:defRPr>
            </a:lvl1pPr>
          </a:lstStyle>
          <a:p>
            <a:r>
              <a:rPr lang="en-US" noProof="0" dirty="0"/>
              <a:t>Click to edit Master title style</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edit Master subtitle style</a:t>
            </a:r>
          </a:p>
        </p:txBody>
      </p:sp>
      <p:sp>
        <p:nvSpPr>
          <p:cNvPr id="4" name="Datumsplatzhalter 3"/>
          <p:cNvSpPr>
            <a:spLocks noGrp="1"/>
          </p:cNvSpPr>
          <p:nvPr>
            <p:ph type="dt" sz="half" idx="10"/>
          </p:nvPr>
        </p:nvSpPr>
        <p:spPr/>
        <p:txBody>
          <a:bodyPr/>
          <a:lstStyle>
            <a:lvl1pPr>
              <a:defRPr>
                <a:latin typeface="Georgia" pitchFamily="18" charset="0"/>
              </a:defRPr>
            </a:lvl1pPr>
          </a:lstStyle>
          <a:p>
            <a:fld id="{C699CB88-5E1A-4FAC-892A-60949ACB1F6F}" type="datetimeFigureOut">
              <a:rPr lang="en-US" smtClean="0">
                <a:solidFill>
                  <a:prstClr val="black">
                    <a:tint val="75000"/>
                  </a:prstClr>
                </a:solidFill>
              </a:rPr>
              <a:pPr/>
              <a:t>10/15/25</a:t>
            </a:fld>
            <a:endParaRPr lang="en-US" dirty="0">
              <a:solidFill>
                <a:prstClr val="black">
                  <a:tint val="75000"/>
                </a:prstClr>
              </a:solidFill>
            </a:endParaRPr>
          </a:p>
        </p:txBody>
      </p:sp>
      <p:sp>
        <p:nvSpPr>
          <p:cNvPr id="5" name="Fußzeilenplatzhalter 4"/>
          <p:cNvSpPr>
            <a:spLocks noGrp="1"/>
          </p:cNvSpPr>
          <p:nvPr>
            <p:ph type="ftr" sz="quarter" idx="11"/>
          </p:nvPr>
        </p:nvSpPr>
        <p:spPr/>
        <p:txBody>
          <a:bodyPr/>
          <a:lstStyle>
            <a:lvl1pPr>
              <a:defRPr>
                <a:latin typeface="Georgia" pitchFamily="18" charset="0"/>
              </a:defRPr>
            </a:lvl1pPr>
          </a:lstStyle>
          <a:p>
            <a:endParaRPr lang="en-US">
              <a:solidFill>
                <a:prstClr val="black">
                  <a:tint val="75000"/>
                </a:prstClr>
              </a:solidFill>
            </a:endParaRPr>
          </a:p>
        </p:txBody>
      </p:sp>
      <p:sp>
        <p:nvSpPr>
          <p:cNvPr id="6" name="Foliennummernplatzhalter 5"/>
          <p:cNvSpPr>
            <a:spLocks noGrp="1"/>
          </p:cNvSpPr>
          <p:nvPr>
            <p:ph type="sldNum" sz="quarter" idx="12"/>
          </p:nvPr>
        </p:nvSpPr>
        <p:spPr/>
        <p:txBody>
          <a:bodyPr/>
          <a:lstStyle>
            <a:lvl1pPr>
              <a:defRPr>
                <a:latin typeface="Georgia" pitchFamily="18" charset="0"/>
              </a:defRPr>
            </a:lvl1p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532069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Click to edit Master title style</a:t>
            </a:r>
          </a:p>
        </p:txBody>
      </p:sp>
      <p:sp>
        <p:nvSpPr>
          <p:cNvPr id="3" name="Inhaltsplatzhalter 2"/>
          <p:cNvSpPr>
            <a:spLocks noGrp="1"/>
          </p:cNvSpPr>
          <p:nvPr>
            <p:ph idx="1"/>
          </p:nvPr>
        </p:nvSpPr>
        <p:spPr/>
        <p:txBody>
          <a:bodyPr/>
          <a:lstStyle>
            <a:lvl1pPr>
              <a:defRPr sz="2400"/>
            </a:lvl1pPr>
            <a:lvl2pPr>
              <a:defRPr sz="2000"/>
            </a:lvl2pPr>
            <a:lvl3pPr>
              <a:defRPr sz="1800"/>
            </a:lvl3pPr>
            <a:lvl4pPr>
              <a:defRPr sz="1600"/>
            </a:lvl4pPr>
            <a:lvl5pPr>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umsplatzhalter 3"/>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87722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457200" y="1600202"/>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Inhaltsplatzhalter 3"/>
          <p:cNvSpPr>
            <a:spLocks noGrp="1"/>
          </p:cNvSpPr>
          <p:nvPr>
            <p:ph sz="half" idx="2"/>
          </p:nvPr>
        </p:nvSpPr>
        <p:spPr>
          <a:xfrm>
            <a:off x="4648200" y="1600202"/>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Datumsplatzhalter 4"/>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6444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Datumsplatzhalter 2"/>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4" name="Fußzeilenplatzhalter 3"/>
          <p:cNvSpPr>
            <a:spLocks noGrp="1"/>
          </p:cNvSpPr>
          <p:nvPr>
            <p:ph type="ftr" sz="quarter" idx="11"/>
          </p:nvPr>
        </p:nvSpPr>
        <p:spPr/>
        <p:txBody>
          <a:bodyPr/>
          <a:lstStyle/>
          <a:p>
            <a:endParaRPr lang="de-DE">
              <a:solidFill>
                <a:prstClr val="black">
                  <a:tint val="75000"/>
                </a:prstClr>
              </a:solidFill>
            </a:endParaRPr>
          </a:p>
        </p:txBody>
      </p:sp>
      <p:sp>
        <p:nvSpPr>
          <p:cNvPr id="5" name="Foliennummernplatzhalter 4"/>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3289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3" name="Fußzeilenplatzhalter 2"/>
          <p:cNvSpPr>
            <a:spLocks noGrp="1"/>
          </p:cNvSpPr>
          <p:nvPr>
            <p:ph type="ftr" sz="quarter" idx="11"/>
          </p:nvPr>
        </p:nvSpPr>
        <p:spPr/>
        <p:txBody>
          <a:bodyPr/>
          <a:lstStyle/>
          <a:p>
            <a:endParaRPr lang="de-DE">
              <a:solidFill>
                <a:prstClr val="black">
                  <a:tint val="75000"/>
                </a:prstClr>
              </a:solidFill>
            </a:endParaRPr>
          </a:p>
        </p:txBody>
      </p:sp>
      <p:sp>
        <p:nvSpPr>
          <p:cNvPr id="4" name="Foliennummernplatzhalter 3"/>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6962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de-DE"/>
          </a:p>
        </p:txBody>
      </p:sp>
      <p:sp>
        <p:nvSpPr>
          <p:cNvPr id="3" name="Inhaltsplatzhalter 2"/>
          <p:cNvSpPr>
            <a:spLocks noGrp="1"/>
          </p:cNvSpPr>
          <p:nvPr>
            <p:ph idx="1"/>
          </p:nvPr>
        </p:nvSpPr>
        <p:spPr>
          <a:xfrm>
            <a:off x="3575050" y="273052"/>
            <a:ext cx="5111750" cy="585311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extplatzhalt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umsplatzhalter 4"/>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4063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umsplatzhalter 4"/>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69932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Vertikaler Textplatzhalt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umsplatzhalter 3"/>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741555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40"/>
            <a:ext cx="2057400" cy="5851525"/>
          </a:xfrm>
        </p:spPr>
        <p:txBody>
          <a:bodyPr vert="eaVert"/>
          <a:lstStyle/>
          <a:p>
            <a:r>
              <a:rPr lang="en-US"/>
              <a:t>Click to edit Master title style</a:t>
            </a:r>
            <a:endParaRPr lang="de-DE"/>
          </a:p>
        </p:txBody>
      </p:sp>
      <p:sp>
        <p:nvSpPr>
          <p:cNvPr id="3" name="Vertikaler Textplatzhalt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umsplatzhalter 3"/>
          <p:cNvSpPr>
            <a:spLocks noGrp="1"/>
          </p:cNvSpPr>
          <p:nvPr>
            <p:ph type="dt" sz="half" idx="10"/>
          </p:nvPr>
        </p:nvSpPr>
        <p:spPr/>
        <p:txBody>
          <a:bodyPr/>
          <a:lstStyle/>
          <a:p>
            <a:fld id="{C699CB88-5E1A-4FAC-892A-60949ACB1F6F}" type="datetimeFigureOut">
              <a:rPr lang="en-US" smtClean="0">
                <a:solidFill>
                  <a:prstClr val="black">
                    <a:tint val="75000"/>
                  </a:prstClr>
                </a:solidFill>
              </a:rPr>
              <a:pPr/>
              <a:t>10/15/25</a:t>
            </a:fld>
            <a:endParaRPr lang="en-US">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91974DF9-AD47-4691-BA21-BBFCE3637A9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1603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noProof="0"/>
              <a:t>Click to edit Master title style</a:t>
            </a:r>
          </a:p>
        </p:txBody>
      </p:sp>
      <p:sp>
        <p:nvSpPr>
          <p:cNvPr id="3" name="Platshållare för innehåll 2"/>
          <p:cNvSpPr>
            <a:spLocks noGrp="1"/>
          </p:cNvSpPr>
          <p:nvPr>
            <p:ph sz="half" idx="1"/>
          </p:nvPr>
        </p:nvSpPr>
        <p:spPr>
          <a:xfrm>
            <a:off x="685800" y="1371600"/>
            <a:ext cx="3810000" cy="4724400"/>
          </a:xfrm>
        </p:spPr>
        <p:txBody>
          <a:bodyPr/>
          <a:lstStyle>
            <a:lvl1pPr>
              <a:defRPr sz="18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Platshållare för innehåll 3"/>
          <p:cNvSpPr>
            <a:spLocks noGrp="1"/>
          </p:cNvSpPr>
          <p:nvPr>
            <p:ph sz="half" idx="2"/>
          </p:nvPr>
        </p:nvSpPr>
        <p:spPr>
          <a:xfrm>
            <a:off x="4648200" y="1371600"/>
            <a:ext cx="3810000" cy="4724400"/>
          </a:xfrm>
        </p:spPr>
        <p:txBody>
          <a:bodyPr/>
          <a:lstStyle>
            <a:lvl1pPr>
              <a:defRPr sz="18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latshållare för text 5"/>
          <p:cNvSpPr>
            <a:spLocks noGrp="1"/>
          </p:cNvSpPr>
          <p:nvPr>
            <p:ph type="body" idx="10"/>
          </p:nvPr>
        </p:nvSpPr>
        <p:spPr>
          <a:xfrm>
            <a:off x="2590800" y="3124200"/>
            <a:ext cx="914400" cy="9144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3016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wm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728B0-E413-BE4E-9EF7-23FB03E7E772}" type="datetimeFigureOut">
              <a:rPr lang="en-US" smtClean="0"/>
              <a:t>10/15/25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A7B289-726C-7841-82FC-9C4AD68EBC25}" type="slidenum">
              <a:rPr lang="en-US" smtClean="0"/>
              <a:t>‹#›</a:t>
            </a:fld>
            <a:endParaRPr lang="en-US"/>
          </a:p>
        </p:txBody>
      </p:sp>
    </p:spTree>
    <p:extLst>
      <p:ext uri="{BB962C8B-B14F-4D97-AF65-F5344CB8AC3E}">
        <p14:creationId xmlns:p14="http://schemas.microsoft.com/office/powerpoint/2010/main" val="36199161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908720"/>
            <a:ext cx="8229600" cy="5328592"/>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4238247" y="6434244"/>
            <a:ext cx="1008112" cy="365125"/>
          </a:xfrm>
          <a:prstGeom prst="rect">
            <a:avLst/>
          </a:prstGeom>
        </p:spPr>
        <p:txBody>
          <a:bodyPr vert="horz" lIns="91440" tIns="45720" rIns="91440" bIns="45720" rtlCol="0" anchor="ctr"/>
          <a:lstStyle>
            <a:lvl1pPr algn="l">
              <a:defRPr sz="1200">
                <a:solidFill>
                  <a:schemeClr val="tx1">
                    <a:tint val="75000"/>
                  </a:schemeClr>
                </a:solidFill>
                <a:latin typeface="Georgia" pitchFamily="18" charset="0"/>
              </a:defRPr>
            </a:lvl1pPr>
          </a:lstStyle>
          <a:p>
            <a:pPr defTabSz="914400"/>
            <a:fld id="{C699CB88-5E1A-4FAC-892A-60949ACB1F6F}" type="datetimeFigureOut">
              <a:rPr lang="en-US" smtClean="0">
                <a:solidFill>
                  <a:prstClr val="black">
                    <a:tint val="75000"/>
                  </a:prstClr>
                </a:solidFill>
              </a:rPr>
              <a:pPr defTabSz="914400"/>
              <a:t>10/15/25</a:t>
            </a:fld>
            <a:endParaRPr lang="en-US" dirty="0">
              <a:solidFill>
                <a:prstClr val="black">
                  <a:tint val="75000"/>
                </a:prstClr>
              </a:solidFill>
            </a:endParaRPr>
          </a:p>
        </p:txBody>
      </p:sp>
      <p:sp>
        <p:nvSpPr>
          <p:cNvPr id="5" name="Fußzeilenplatzhalter 4"/>
          <p:cNvSpPr>
            <a:spLocks noGrp="1"/>
          </p:cNvSpPr>
          <p:nvPr>
            <p:ph type="ftr" sz="quarter" idx="3"/>
          </p:nvPr>
        </p:nvSpPr>
        <p:spPr>
          <a:xfrm>
            <a:off x="5318367" y="6434244"/>
            <a:ext cx="2895600" cy="365125"/>
          </a:xfrm>
          <a:prstGeom prst="rect">
            <a:avLst/>
          </a:prstGeom>
        </p:spPr>
        <p:txBody>
          <a:bodyPr vert="horz" lIns="91440" tIns="45720" rIns="91440" bIns="45720" rtlCol="0" anchor="ctr"/>
          <a:lstStyle>
            <a:lvl1pPr algn="ctr">
              <a:defRPr sz="1200">
                <a:solidFill>
                  <a:schemeClr val="tx1">
                    <a:tint val="75000"/>
                  </a:schemeClr>
                </a:solidFill>
                <a:latin typeface="Georgia" pitchFamily="18" charset="0"/>
              </a:defRPr>
            </a:lvl1pPr>
          </a:lstStyle>
          <a:p>
            <a:pPr defTabSz="914400"/>
            <a:endParaRPr lang="de-DE" dirty="0">
              <a:solidFill>
                <a:prstClr val="black">
                  <a:tint val="75000"/>
                </a:prstClr>
              </a:solidFill>
            </a:endParaRPr>
          </a:p>
        </p:txBody>
      </p:sp>
      <p:sp>
        <p:nvSpPr>
          <p:cNvPr id="6" name="Foliennummernplatzhalter 5"/>
          <p:cNvSpPr>
            <a:spLocks noGrp="1"/>
          </p:cNvSpPr>
          <p:nvPr>
            <p:ph type="sldNum" sz="quarter" idx="4"/>
          </p:nvPr>
        </p:nvSpPr>
        <p:spPr>
          <a:xfrm>
            <a:off x="8291904" y="6433810"/>
            <a:ext cx="842170" cy="365125"/>
          </a:xfrm>
          <a:prstGeom prst="rect">
            <a:avLst/>
          </a:prstGeom>
        </p:spPr>
        <p:txBody>
          <a:bodyPr vert="horz" lIns="91440" tIns="45720" rIns="91440" bIns="45720" rtlCol="0" anchor="ctr"/>
          <a:lstStyle>
            <a:lvl1pPr algn="r">
              <a:defRPr sz="1200">
                <a:solidFill>
                  <a:schemeClr val="tx1">
                    <a:tint val="75000"/>
                  </a:schemeClr>
                </a:solidFill>
                <a:latin typeface="Georgia" pitchFamily="18" charset="0"/>
              </a:defRPr>
            </a:lvl1pPr>
          </a:lstStyle>
          <a:p>
            <a:pPr defTabSz="914400"/>
            <a:fld id="{91974DF9-AD47-4691-BA21-BBFCE3637A9A}" type="slidenum">
              <a:rPr lang="en-US" smtClean="0">
                <a:solidFill>
                  <a:prstClr val="black">
                    <a:tint val="75000"/>
                  </a:prstClr>
                </a:solidFill>
              </a:rPr>
              <a:pPr defTabSz="914400"/>
              <a:t>‹#›</a:t>
            </a:fld>
            <a:r>
              <a:rPr lang="en-US">
                <a:solidFill>
                  <a:prstClr val="black">
                    <a:tint val="75000"/>
                  </a:prstClr>
                </a:solidFill>
              </a:rPr>
              <a:t>/</a:t>
            </a:r>
            <a:endParaRPr lang="en-US" dirty="0">
              <a:solidFill>
                <a:prstClr val="black">
                  <a:tint val="75000"/>
                </a:prstClr>
              </a:solidFill>
            </a:endParaRPr>
          </a:p>
        </p:txBody>
      </p:sp>
      <p:sp>
        <p:nvSpPr>
          <p:cNvPr id="7" name="Rechteck 6"/>
          <p:cNvSpPr/>
          <p:nvPr/>
        </p:nvSpPr>
        <p:spPr>
          <a:xfrm>
            <a:off x="0" y="0"/>
            <a:ext cx="9144000" cy="260648"/>
          </a:xfrm>
          <a:prstGeom prst="rect">
            <a:avLst/>
          </a:prstGeom>
          <a:gradFill flip="none" rotWithShape="1">
            <a:gsLst>
              <a:gs pos="0">
                <a:schemeClr val="bg1">
                  <a:lumMod val="75000"/>
                </a:schemeClr>
              </a:gs>
              <a:gs pos="34000">
                <a:schemeClr val="bg1">
                  <a:lumMod val="85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de-DE" sz="1800">
              <a:solidFill>
                <a:prstClr val="white"/>
              </a:solidFill>
              <a:latin typeface="Calibri"/>
            </a:endParaRPr>
          </a:p>
        </p:txBody>
      </p:sp>
      <p:cxnSp>
        <p:nvCxnSpPr>
          <p:cNvPr id="9" name="Gerade Verbindung 8"/>
          <p:cNvCxnSpPr/>
          <p:nvPr/>
        </p:nvCxnSpPr>
        <p:spPr>
          <a:xfrm>
            <a:off x="0" y="6381328"/>
            <a:ext cx="9144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a:off x="4128" y="809898"/>
            <a:ext cx="9144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elplatzhalter 1"/>
          <p:cNvSpPr>
            <a:spLocks noGrp="1"/>
          </p:cNvSpPr>
          <p:nvPr>
            <p:ph type="title"/>
          </p:nvPr>
        </p:nvSpPr>
        <p:spPr>
          <a:xfrm>
            <a:off x="457200" y="24304"/>
            <a:ext cx="8229600" cy="706090"/>
          </a:xfrm>
          <a:prstGeom prst="rect">
            <a:avLst/>
          </a:prstGeom>
        </p:spPr>
        <p:txBody>
          <a:bodyPr vert="horz" lIns="91440" tIns="45720" rIns="91440" bIns="45720" rtlCol="0" anchor="ctr">
            <a:noAutofit/>
          </a:bodyPr>
          <a:lstStyle/>
          <a:p>
            <a:r>
              <a:rPr lang="de-DE" dirty="0"/>
              <a:t>Titelmasterformat durch Klicken bearbeiten</a:t>
            </a:r>
          </a:p>
        </p:txBody>
      </p:sp>
      <p:pic>
        <p:nvPicPr>
          <p:cNvPr id="8" name="Picture 7" descr="Chalmers_GU.wmf"/>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1521" y="6453336"/>
            <a:ext cx="3838786" cy="335274"/>
          </a:xfrm>
          <a:prstGeom prst="rect">
            <a:avLst/>
          </a:prstGeom>
        </p:spPr>
      </p:pic>
    </p:spTree>
    <p:extLst>
      <p:ext uri="{BB962C8B-B14F-4D97-AF65-F5344CB8AC3E}">
        <p14:creationId xmlns:p14="http://schemas.microsoft.com/office/powerpoint/2010/main" val="11523554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transition>
    <p:fade/>
  </p:transition>
  <p:txStyles>
    <p:titleStyle>
      <a:lvl1pPr algn="ctr" defTabSz="914400" rtl="0" eaLnBrk="1" latinLnBrk="0" hangingPunct="1">
        <a:spcBef>
          <a:spcPct val="0"/>
        </a:spcBef>
        <a:buNone/>
        <a:defRPr sz="3200" kern="1200">
          <a:solidFill>
            <a:schemeClr val="tx1"/>
          </a:solidFill>
          <a:latin typeface="Georgia"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Georgia" pitchFamily="18"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Georgia" pitchFamily="18" charset="0"/>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Georgia" pitchFamily="18" charset="0"/>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Georgia"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481031"/>
            <a:ext cx="7772400" cy="2119422"/>
          </a:xfrm>
        </p:spPr>
        <p:txBody>
          <a:bodyPr/>
          <a:lstStyle/>
          <a:p>
            <a:r>
              <a:rPr lang="en-US" dirty="0"/>
              <a:t>Ethics and Requirements Engineering</a:t>
            </a:r>
          </a:p>
        </p:txBody>
      </p:sp>
      <p:sp>
        <p:nvSpPr>
          <p:cNvPr id="5" name="Subtitle 4"/>
          <p:cNvSpPr>
            <a:spLocks noGrp="1"/>
          </p:cNvSpPr>
          <p:nvPr>
            <p:ph type="subTitle" idx="1"/>
          </p:nvPr>
        </p:nvSpPr>
        <p:spPr>
          <a:xfrm>
            <a:off x="1371600" y="3519377"/>
            <a:ext cx="6400800" cy="2119423"/>
          </a:xfrm>
        </p:spPr>
        <p:txBody>
          <a:bodyPr/>
          <a:lstStyle/>
          <a:p>
            <a:r>
              <a:rPr lang="en-US" dirty="0"/>
              <a:t>Farnaz Fotrousi</a:t>
            </a:r>
          </a:p>
          <a:p>
            <a:r>
              <a:rPr lang="en-US" dirty="0"/>
              <a:t>Oct 2025</a:t>
            </a:r>
          </a:p>
          <a:p>
            <a:endParaRPr lang="en-US" dirty="0"/>
          </a:p>
        </p:txBody>
      </p:sp>
    </p:spTree>
    <p:extLst>
      <p:ext uri="{BB962C8B-B14F-4D97-AF65-F5344CB8AC3E}">
        <p14:creationId xmlns:p14="http://schemas.microsoft.com/office/powerpoint/2010/main" val="27902793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2DD8-5D50-D1CF-64DD-9841742FB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CCC43-6783-16D0-8AFE-52CBF300E2E6}"/>
              </a:ext>
            </a:extLst>
          </p:cNvPr>
          <p:cNvSpPr>
            <a:spLocks noGrp="1"/>
          </p:cNvSpPr>
          <p:nvPr>
            <p:ph type="title"/>
          </p:nvPr>
        </p:nvSpPr>
        <p:spPr>
          <a:xfrm>
            <a:off x="457200" y="24304"/>
            <a:ext cx="8229600" cy="706090"/>
          </a:xfrm>
        </p:spPr>
        <p:txBody>
          <a:bodyPr anchor="ctr">
            <a:normAutofit/>
          </a:bodyPr>
          <a:lstStyle/>
          <a:p>
            <a:r>
              <a:rPr lang="en-SE" dirty="0"/>
              <a:t>An example Scenario</a:t>
            </a:r>
          </a:p>
        </p:txBody>
      </p:sp>
      <p:pic>
        <p:nvPicPr>
          <p:cNvPr id="7" name="Picture 6" descr="A cartoon of a person holding a tablet&#10;&#10;Description automatically generated">
            <a:extLst>
              <a:ext uri="{FF2B5EF4-FFF2-40B4-BE49-F238E27FC236}">
                <a16:creationId xmlns:a16="http://schemas.microsoft.com/office/drawing/2014/main" id="{BD4F7A75-26CC-C7F2-31D6-BFB2115F93AF}"/>
              </a:ext>
            </a:extLst>
          </p:cNvPr>
          <p:cNvPicPr>
            <a:picLocks noChangeAspect="1"/>
          </p:cNvPicPr>
          <p:nvPr/>
        </p:nvPicPr>
        <p:blipFill>
          <a:blip r:embed="rId3"/>
          <a:stretch>
            <a:fillRect/>
          </a:stretch>
        </p:blipFill>
        <p:spPr>
          <a:xfrm>
            <a:off x="3388628" y="2788145"/>
            <a:ext cx="2366743" cy="2062656"/>
          </a:xfrm>
          <a:prstGeom prst="rect">
            <a:avLst/>
          </a:prstGeom>
          <a:noFill/>
        </p:spPr>
      </p:pic>
      <p:sp>
        <p:nvSpPr>
          <p:cNvPr id="4" name="TextBox 3">
            <a:extLst>
              <a:ext uri="{FF2B5EF4-FFF2-40B4-BE49-F238E27FC236}">
                <a16:creationId xmlns:a16="http://schemas.microsoft.com/office/drawing/2014/main" id="{F9B4A5DF-B7C2-220A-1C4A-135070F3CCF4}"/>
              </a:ext>
            </a:extLst>
          </p:cNvPr>
          <p:cNvSpPr txBox="1"/>
          <p:nvPr/>
        </p:nvSpPr>
        <p:spPr>
          <a:xfrm>
            <a:off x="457200" y="830071"/>
            <a:ext cx="2200542" cy="1477328"/>
          </a:xfrm>
          <a:prstGeom prst="rect">
            <a:avLst/>
          </a:prstGeom>
          <a:noFill/>
        </p:spPr>
        <p:txBody>
          <a:bodyPr wrap="square" rtlCol="0">
            <a:spAutoFit/>
          </a:bodyPr>
          <a:lstStyle/>
          <a:p>
            <a:r>
              <a:rPr lang="en-GB" sz="1800" b="0" i="0" u="none" strike="noStrike" dirty="0" err="1">
                <a:effectLst/>
              </a:rPr>
              <a:t>Dr.</a:t>
            </a:r>
            <a:r>
              <a:rPr lang="en-GB" sz="1800" b="0" i="0" u="none" strike="noStrike" dirty="0">
                <a:effectLst/>
              </a:rPr>
              <a:t> </a:t>
            </a:r>
            <a:r>
              <a:rPr lang="en-GB" sz="1800" b="1" i="0" u="none" strike="noStrike" dirty="0">
                <a:effectLst/>
              </a:rPr>
              <a:t>Katerina</a:t>
            </a:r>
            <a:r>
              <a:rPr lang="en-GB" sz="1800" b="0" i="0" u="none" strike="noStrike" dirty="0">
                <a:effectLst/>
              </a:rPr>
              <a:t> is a senior requirements engineer at a global software company based in Sweden.</a:t>
            </a:r>
            <a:endParaRPr lang="en-SE" dirty="0"/>
          </a:p>
        </p:txBody>
      </p:sp>
      <p:sp>
        <p:nvSpPr>
          <p:cNvPr id="5" name="TextBox 4">
            <a:extLst>
              <a:ext uri="{FF2B5EF4-FFF2-40B4-BE49-F238E27FC236}">
                <a16:creationId xmlns:a16="http://schemas.microsoft.com/office/drawing/2014/main" id="{4AF7607E-43E9-5A4A-6475-4C1EBB5F3AFD}"/>
              </a:ext>
            </a:extLst>
          </p:cNvPr>
          <p:cNvSpPr txBox="1"/>
          <p:nvPr/>
        </p:nvSpPr>
        <p:spPr>
          <a:xfrm>
            <a:off x="0" y="2551837"/>
            <a:ext cx="2956845" cy="1754326"/>
          </a:xfrm>
          <a:prstGeom prst="rect">
            <a:avLst/>
          </a:prstGeom>
          <a:noFill/>
        </p:spPr>
        <p:txBody>
          <a:bodyPr wrap="square" rtlCol="0">
            <a:spAutoFit/>
          </a:bodyPr>
          <a:lstStyle/>
          <a:p>
            <a:r>
              <a:rPr lang="en-GB" sz="1800" b="0" i="0" u="none" strike="noStrike" dirty="0">
                <a:effectLst/>
              </a:rPr>
              <a:t>The company is developing a new software platform called "</a:t>
            </a:r>
            <a:r>
              <a:rPr lang="en-GB" sz="1800" b="0" i="0" u="none" strike="noStrike" dirty="0" err="1">
                <a:effectLst/>
              </a:rPr>
              <a:t>MediSync</a:t>
            </a:r>
            <a:r>
              <a:rPr lang="en-GB" sz="1800" b="0" i="0" u="none" strike="noStrike" dirty="0">
                <a:effectLst/>
              </a:rPr>
              <a:t>," which </a:t>
            </a:r>
            <a:r>
              <a:rPr lang="en-GB" sz="1800" b="1" i="0" u="none" strike="noStrike" dirty="0">
                <a:effectLst/>
              </a:rPr>
              <a:t>aims</a:t>
            </a:r>
            <a:r>
              <a:rPr lang="en-GB" sz="1800" b="0" i="0" u="none" strike="noStrike" dirty="0">
                <a:effectLst/>
              </a:rPr>
              <a:t> </a:t>
            </a:r>
            <a:r>
              <a:rPr lang="en-GB" sz="1800" b="1" i="0" u="none" strike="noStrike" dirty="0">
                <a:effectLst/>
              </a:rPr>
              <a:t>to integrate patient data from various healthcare providers </a:t>
            </a:r>
            <a:r>
              <a:rPr lang="en-GB" sz="1800" b="0" i="0" u="none" strike="noStrike" dirty="0">
                <a:effectLst/>
              </a:rPr>
              <a:t>to improve care coordination.</a:t>
            </a:r>
            <a:endParaRPr lang="en-SE" dirty="0"/>
          </a:p>
        </p:txBody>
      </p:sp>
      <p:sp>
        <p:nvSpPr>
          <p:cNvPr id="6" name="TextBox 5">
            <a:extLst>
              <a:ext uri="{FF2B5EF4-FFF2-40B4-BE49-F238E27FC236}">
                <a16:creationId xmlns:a16="http://schemas.microsoft.com/office/drawing/2014/main" id="{599580FC-4436-061A-EE95-58A01C44EADD}"/>
              </a:ext>
            </a:extLst>
          </p:cNvPr>
          <p:cNvSpPr txBox="1"/>
          <p:nvPr/>
        </p:nvSpPr>
        <p:spPr>
          <a:xfrm>
            <a:off x="376016" y="4550601"/>
            <a:ext cx="3153396" cy="2031325"/>
          </a:xfrm>
          <a:prstGeom prst="rect">
            <a:avLst/>
          </a:prstGeom>
          <a:noFill/>
        </p:spPr>
        <p:txBody>
          <a:bodyPr wrap="square" rtlCol="0">
            <a:spAutoFit/>
          </a:bodyPr>
          <a:lstStyle/>
          <a:p>
            <a:r>
              <a:rPr lang="en-GB" sz="1800" b="0" i="0" u="none" strike="noStrike" dirty="0" err="1">
                <a:effectLst/>
              </a:rPr>
              <a:t>MediSync’s</a:t>
            </a:r>
            <a:r>
              <a:rPr lang="en-GB" sz="1800" b="0" i="0" u="none" strike="noStrike" dirty="0">
                <a:effectLst/>
              </a:rPr>
              <a:t> goal is to </a:t>
            </a:r>
            <a:r>
              <a:rPr lang="en-GB" sz="1800" b="1" i="0" u="none" strike="noStrike" dirty="0">
                <a:effectLst/>
              </a:rPr>
              <a:t>streamline communication between healthcare professionals</a:t>
            </a:r>
            <a:r>
              <a:rPr lang="en-GB" sz="1800" b="0" i="0" u="none" strike="noStrike" dirty="0">
                <a:effectLst/>
              </a:rPr>
              <a:t> and provide patients with </a:t>
            </a:r>
            <a:r>
              <a:rPr lang="en-GB" sz="1800" b="1" i="0" u="none" strike="noStrike" dirty="0">
                <a:effectLst/>
              </a:rPr>
              <a:t>personalized care recommendations</a:t>
            </a:r>
            <a:r>
              <a:rPr lang="en-GB" sz="1800" b="0" i="0" u="none" strike="noStrike" dirty="0">
                <a:effectLst/>
              </a:rPr>
              <a:t>.</a:t>
            </a:r>
          </a:p>
          <a:p>
            <a:endParaRPr lang="en-SE" dirty="0"/>
          </a:p>
        </p:txBody>
      </p:sp>
      <p:sp>
        <p:nvSpPr>
          <p:cNvPr id="8" name="TextBox 7">
            <a:extLst>
              <a:ext uri="{FF2B5EF4-FFF2-40B4-BE49-F238E27FC236}">
                <a16:creationId xmlns:a16="http://schemas.microsoft.com/office/drawing/2014/main" id="{F460CE7D-FE7A-4C3E-0D1A-E77EE23C4DB8}"/>
              </a:ext>
            </a:extLst>
          </p:cNvPr>
          <p:cNvSpPr txBox="1"/>
          <p:nvPr/>
        </p:nvSpPr>
        <p:spPr>
          <a:xfrm>
            <a:off x="2956845" y="789381"/>
            <a:ext cx="3213661" cy="1477328"/>
          </a:xfrm>
          <a:prstGeom prst="rect">
            <a:avLst/>
          </a:prstGeom>
          <a:noFill/>
        </p:spPr>
        <p:txBody>
          <a:bodyPr wrap="square" rtlCol="0">
            <a:spAutoFit/>
          </a:bodyPr>
          <a:lstStyle/>
          <a:p>
            <a:r>
              <a:rPr lang="en-GB" sz="1800" b="0" i="0" u="none" strike="noStrike" dirty="0">
                <a:effectLst/>
              </a:rPr>
              <a:t>Katerina is responsible for </a:t>
            </a:r>
            <a:r>
              <a:rPr lang="en-GB" sz="1800" b="1" i="0" u="none" strike="noStrike" dirty="0">
                <a:effectLst/>
              </a:rPr>
              <a:t>gathering requirements </a:t>
            </a:r>
            <a:r>
              <a:rPr lang="en-GB" sz="1800" b="0" i="0" u="none" strike="noStrike" dirty="0">
                <a:effectLst/>
              </a:rPr>
              <a:t>from diverse stakeholders, including </a:t>
            </a:r>
            <a:r>
              <a:rPr lang="en-GB" sz="1800" b="1" i="0" u="none" strike="noStrike" dirty="0">
                <a:effectLst/>
              </a:rPr>
              <a:t>healthcare providers, patients, and regulatory bodies.</a:t>
            </a:r>
            <a:endParaRPr lang="en-SE" b="1" dirty="0"/>
          </a:p>
        </p:txBody>
      </p:sp>
      <p:sp>
        <p:nvSpPr>
          <p:cNvPr id="9" name="TextBox 8">
            <a:extLst>
              <a:ext uri="{FF2B5EF4-FFF2-40B4-BE49-F238E27FC236}">
                <a16:creationId xmlns:a16="http://schemas.microsoft.com/office/drawing/2014/main" id="{E950F6DB-2E52-667F-F4DF-CEDA33B26A7A}"/>
              </a:ext>
            </a:extLst>
          </p:cNvPr>
          <p:cNvSpPr txBox="1"/>
          <p:nvPr/>
        </p:nvSpPr>
        <p:spPr>
          <a:xfrm>
            <a:off x="6542024" y="2655804"/>
            <a:ext cx="2632104" cy="2585323"/>
          </a:xfrm>
          <a:prstGeom prst="rect">
            <a:avLst/>
          </a:prstGeom>
          <a:noFill/>
        </p:spPr>
        <p:txBody>
          <a:bodyPr wrap="square" rtlCol="0">
            <a:spAutoFit/>
          </a:bodyPr>
          <a:lstStyle/>
          <a:p>
            <a:r>
              <a:rPr lang="en-GB" sz="1800" b="0" i="0" u="none" strike="noStrike" dirty="0">
                <a:effectLst/>
              </a:rPr>
              <a:t>Katerina’s team is considering using advanced analytics and machine learning for analysis to process both structured and unstructured data from </a:t>
            </a:r>
            <a:r>
              <a:rPr lang="en-GB" sz="1800" b="1" i="0" u="none" strike="noStrike" dirty="0">
                <a:effectLst/>
              </a:rPr>
              <a:t>patient records </a:t>
            </a:r>
            <a:r>
              <a:rPr lang="en-GB" sz="1800" b="0" i="0" u="none" strike="noStrike" dirty="0">
                <a:effectLst/>
              </a:rPr>
              <a:t>and </a:t>
            </a:r>
            <a:r>
              <a:rPr lang="en-GB" sz="1800" b="1" i="0" u="none" strike="noStrike" dirty="0">
                <a:effectLst/>
              </a:rPr>
              <a:t>medical devices</a:t>
            </a:r>
            <a:r>
              <a:rPr lang="en-GB" sz="1800" b="0" i="0" u="none" strike="noStrike" dirty="0">
                <a:effectLst/>
              </a:rPr>
              <a:t>.</a:t>
            </a:r>
            <a:endParaRPr lang="en-SE" dirty="0"/>
          </a:p>
        </p:txBody>
      </p:sp>
      <p:sp>
        <p:nvSpPr>
          <p:cNvPr id="10" name="TextBox 9">
            <a:extLst>
              <a:ext uri="{FF2B5EF4-FFF2-40B4-BE49-F238E27FC236}">
                <a16:creationId xmlns:a16="http://schemas.microsoft.com/office/drawing/2014/main" id="{121B145A-3076-65E7-16DF-475AB812BD13}"/>
              </a:ext>
            </a:extLst>
          </p:cNvPr>
          <p:cNvSpPr txBox="1"/>
          <p:nvPr/>
        </p:nvSpPr>
        <p:spPr>
          <a:xfrm>
            <a:off x="4769217" y="5241127"/>
            <a:ext cx="4092771" cy="1200329"/>
          </a:xfrm>
          <a:prstGeom prst="rect">
            <a:avLst/>
          </a:prstGeom>
          <a:noFill/>
        </p:spPr>
        <p:txBody>
          <a:bodyPr wrap="square" rtlCol="0">
            <a:spAutoFit/>
          </a:bodyPr>
          <a:lstStyle/>
          <a:p>
            <a:r>
              <a:rPr lang="en-GB" sz="1800" b="0" i="0" u="none" strike="noStrike" dirty="0">
                <a:effectLst/>
              </a:rPr>
              <a:t>Katerina plans to introduce a data-gathering system that collects real-time data from various sources, including healthcare professionals and patients</a:t>
            </a:r>
            <a:endParaRPr lang="en-SE" dirty="0"/>
          </a:p>
        </p:txBody>
      </p:sp>
      <p:cxnSp>
        <p:nvCxnSpPr>
          <p:cNvPr id="12" name="Straight Arrow Connector 11">
            <a:extLst>
              <a:ext uri="{FF2B5EF4-FFF2-40B4-BE49-F238E27FC236}">
                <a16:creationId xmlns:a16="http://schemas.microsoft.com/office/drawing/2014/main" id="{D8A47122-2683-FADD-7D91-4B222E27B400}"/>
              </a:ext>
            </a:extLst>
          </p:cNvPr>
          <p:cNvCxnSpPr/>
          <p:nvPr/>
        </p:nvCxnSpPr>
        <p:spPr>
          <a:xfrm flipH="1" flipV="1">
            <a:off x="2657742" y="2407076"/>
            <a:ext cx="555919" cy="310487"/>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59EB3052-61B2-19B2-3560-3CBD6F9494FC}"/>
              </a:ext>
            </a:extLst>
          </p:cNvPr>
          <p:cNvCxnSpPr>
            <a:cxnSpLocks/>
          </p:cNvCxnSpPr>
          <p:nvPr/>
        </p:nvCxnSpPr>
        <p:spPr>
          <a:xfrm flipV="1">
            <a:off x="4452359" y="2307399"/>
            <a:ext cx="0" cy="410164"/>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43DAAA5D-BC20-4B2B-05D8-A11FDB2D2946}"/>
              </a:ext>
            </a:extLst>
          </p:cNvPr>
          <p:cNvCxnSpPr>
            <a:cxnSpLocks/>
          </p:cNvCxnSpPr>
          <p:nvPr/>
        </p:nvCxnSpPr>
        <p:spPr>
          <a:xfrm flipV="1">
            <a:off x="5883779" y="2512481"/>
            <a:ext cx="342495" cy="310487"/>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0098891E-EA19-7F54-055F-D00F92819FB7}"/>
              </a:ext>
            </a:extLst>
          </p:cNvPr>
          <p:cNvCxnSpPr>
            <a:cxnSpLocks/>
          </p:cNvCxnSpPr>
          <p:nvPr/>
        </p:nvCxnSpPr>
        <p:spPr>
          <a:xfrm flipH="1">
            <a:off x="2853851" y="3614871"/>
            <a:ext cx="406369"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5" name="Straight Arrow Connector 24">
            <a:extLst>
              <a:ext uri="{FF2B5EF4-FFF2-40B4-BE49-F238E27FC236}">
                <a16:creationId xmlns:a16="http://schemas.microsoft.com/office/drawing/2014/main" id="{821BF0BD-A3FD-A30F-BB4F-8855CE9650F4}"/>
              </a:ext>
            </a:extLst>
          </p:cNvPr>
          <p:cNvCxnSpPr>
            <a:cxnSpLocks/>
          </p:cNvCxnSpPr>
          <p:nvPr/>
        </p:nvCxnSpPr>
        <p:spPr>
          <a:xfrm flipH="1">
            <a:off x="3057035" y="5001455"/>
            <a:ext cx="368182" cy="347591"/>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990512C5-634F-BC83-8163-A40EC29B85E3}"/>
              </a:ext>
            </a:extLst>
          </p:cNvPr>
          <p:cNvCxnSpPr>
            <a:cxnSpLocks/>
          </p:cNvCxnSpPr>
          <p:nvPr/>
        </p:nvCxnSpPr>
        <p:spPr>
          <a:xfrm>
            <a:off x="5883779" y="4921383"/>
            <a:ext cx="406369" cy="253867"/>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3" name="TextBox 32">
            <a:extLst>
              <a:ext uri="{FF2B5EF4-FFF2-40B4-BE49-F238E27FC236}">
                <a16:creationId xmlns:a16="http://schemas.microsoft.com/office/drawing/2014/main" id="{166CD611-8434-D067-2C1F-4E9055209045}"/>
              </a:ext>
            </a:extLst>
          </p:cNvPr>
          <p:cNvSpPr txBox="1"/>
          <p:nvPr/>
        </p:nvSpPr>
        <p:spPr>
          <a:xfrm>
            <a:off x="6290148" y="882773"/>
            <a:ext cx="2872415" cy="1477328"/>
          </a:xfrm>
          <a:prstGeom prst="rect">
            <a:avLst/>
          </a:prstGeom>
          <a:noFill/>
        </p:spPr>
        <p:txBody>
          <a:bodyPr wrap="square">
            <a:spAutoFit/>
          </a:bodyPr>
          <a:lstStyle/>
          <a:p>
            <a:r>
              <a:rPr lang="en-GB" sz="1800" b="0" i="0" u="none" strike="noStrike" dirty="0">
                <a:effectLst/>
              </a:rPr>
              <a:t>The process </a:t>
            </a:r>
            <a:r>
              <a:rPr lang="en-GB" sz="1800" i="0" u="none" strike="noStrike" dirty="0">
                <a:effectLst/>
              </a:rPr>
              <a:t>gathering</a:t>
            </a:r>
            <a:r>
              <a:rPr lang="en-GB" sz="1800" b="0" i="0" u="none" strike="noStrike" dirty="0">
                <a:effectLst/>
              </a:rPr>
              <a:t> requirements via </a:t>
            </a:r>
            <a:r>
              <a:rPr lang="en-GB" sz="1800" b="1" i="0" u="none" strike="noStrike" dirty="0">
                <a:effectLst/>
              </a:rPr>
              <a:t>interviews, surveys, and focus groups </a:t>
            </a:r>
            <a:r>
              <a:rPr lang="en-GB" sz="1800" i="0" u="none" strike="noStrike" dirty="0">
                <a:effectLst/>
              </a:rPr>
              <a:t>with these stakeholders and</a:t>
            </a:r>
            <a:r>
              <a:rPr lang="en-GB" sz="1800" b="1" i="0" u="none" strike="noStrike" dirty="0">
                <a:effectLst/>
              </a:rPr>
              <a:t> analysing </a:t>
            </a:r>
            <a:r>
              <a:rPr lang="en-GB" sz="1800" i="0" u="none" strike="noStrike" dirty="0">
                <a:effectLst/>
              </a:rPr>
              <a:t>them.</a:t>
            </a:r>
            <a:endParaRPr lang="en-SE" dirty="0"/>
          </a:p>
        </p:txBody>
      </p:sp>
      <p:cxnSp>
        <p:nvCxnSpPr>
          <p:cNvPr id="34" name="Straight Arrow Connector 33">
            <a:extLst>
              <a:ext uri="{FF2B5EF4-FFF2-40B4-BE49-F238E27FC236}">
                <a16:creationId xmlns:a16="http://schemas.microsoft.com/office/drawing/2014/main" id="{F22AD5D1-C2F2-6DBD-06AF-C43E69EC09C9}"/>
              </a:ext>
            </a:extLst>
          </p:cNvPr>
          <p:cNvCxnSpPr>
            <a:cxnSpLocks/>
          </p:cNvCxnSpPr>
          <p:nvPr/>
        </p:nvCxnSpPr>
        <p:spPr>
          <a:xfrm>
            <a:off x="5871403" y="3819473"/>
            <a:ext cx="599946" cy="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7257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P spid="10"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BDDE13-50C8-1F4A-5B2F-FB3CBF2407E5}"/>
              </a:ext>
            </a:extLst>
          </p:cNvPr>
          <p:cNvSpPr txBox="1"/>
          <p:nvPr/>
        </p:nvSpPr>
        <p:spPr>
          <a:xfrm>
            <a:off x="1499787" y="2138735"/>
            <a:ext cx="6144426" cy="1384995"/>
          </a:xfrm>
          <a:prstGeom prst="rect">
            <a:avLst/>
          </a:prstGeom>
          <a:noFill/>
        </p:spPr>
        <p:txBody>
          <a:bodyPr wrap="square" rtlCol="0">
            <a:spAutoFit/>
          </a:bodyPr>
          <a:lstStyle/>
          <a:p>
            <a:r>
              <a:rPr lang="en-SE" sz="2800" dirty="0">
                <a:latin typeface="Georgia" panose="02040502050405020303" pitchFamily="18" charset="0"/>
              </a:rPr>
              <a:t>What </a:t>
            </a:r>
            <a:r>
              <a:rPr lang="en-SE" sz="2800" b="1" dirty="0">
                <a:latin typeface="Georgia" panose="02040502050405020303" pitchFamily="18" charset="0"/>
              </a:rPr>
              <a:t>Ethical</a:t>
            </a:r>
            <a:r>
              <a:rPr lang="en-SE" sz="2800" dirty="0">
                <a:latin typeface="Georgia" panose="02040502050405020303" pitchFamily="18" charset="0"/>
              </a:rPr>
              <a:t> Considerations should Katarina have during requirements elicitation and analysis?</a:t>
            </a:r>
          </a:p>
        </p:txBody>
      </p:sp>
      <p:pic>
        <p:nvPicPr>
          <p:cNvPr id="3" name="Picture 2" descr="A cartoon of a person holding a tablet&#10;&#10;Description automatically generated">
            <a:extLst>
              <a:ext uri="{FF2B5EF4-FFF2-40B4-BE49-F238E27FC236}">
                <a16:creationId xmlns:a16="http://schemas.microsoft.com/office/drawing/2014/main" id="{E166FC47-A56E-9D54-1845-16A5A527DB74}"/>
              </a:ext>
            </a:extLst>
          </p:cNvPr>
          <p:cNvPicPr>
            <a:picLocks noChangeAspect="1"/>
          </p:cNvPicPr>
          <p:nvPr/>
        </p:nvPicPr>
        <p:blipFill>
          <a:blip r:embed="rId2"/>
          <a:stretch>
            <a:fillRect/>
          </a:stretch>
        </p:blipFill>
        <p:spPr>
          <a:xfrm>
            <a:off x="6212793" y="3914034"/>
            <a:ext cx="2089225" cy="1820795"/>
          </a:xfrm>
          <a:prstGeom prst="rect">
            <a:avLst/>
          </a:prstGeom>
          <a:noFill/>
        </p:spPr>
      </p:pic>
    </p:spTree>
    <p:extLst>
      <p:ext uri="{BB962C8B-B14F-4D97-AF65-F5344CB8AC3E}">
        <p14:creationId xmlns:p14="http://schemas.microsoft.com/office/powerpoint/2010/main" val="3331218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6538C-5747-42E3-82F0-AF149433D9DD}"/>
              </a:ext>
            </a:extLst>
          </p:cNvPr>
          <p:cNvSpPr>
            <a:spLocks noGrp="1"/>
          </p:cNvSpPr>
          <p:nvPr>
            <p:ph type="title"/>
          </p:nvPr>
        </p:nvSpPr>
        <p:spPr/>
        <p:txBody>
          <a:bodyPr>
            <a:normAutofit/>
          </a:bodyPr>
          <a:lstStyle/>
          <a:p>
            <a:r>
              <a:rPr lang="en-SE" sz="3200" dirty="0">
                <a:latin typeface="Georgia" panose="02040502050405020303" pitchFamily="18" charset="0"/>
              </a:rPr>
              <a:t>Ethical considerations: Requirements elicitation</a:t>
            </a:r>
          </a:p>
        </p:txBody>
      </p:sp>
      <p:sp>
        <p:nvSpPr>
          <p:cNvPr id="3" name="Content Placeholder 2">
            <a:extLst>
              <a:ext uri="{FF2B5EF4-FFF2-40B4-BE49-F238E27FC236}">
                <a16:creationId xmlns:a16="http://schemas.microsoft.com/office/drawing/2014/main" id="{04CED1C2-5293-9F06-5CCA-EF47A2A5896C}"/>
              </a:ext>
            </a:extLst>
          </p:cNvPr>
          <p:cNvSpPr>
            <a:spLocks noGrp="1"/>
          </p:cNvSpPr>
          <p:nvPr>
            <p:ph idx="1"/>
          </p:nvPr>
        </p:nvSpPr>
        <p:spPr/>
        <p:txBody>
          <a:bodyPr>
            <a:normAutofit/>
          </a:bodyPr>
          <a:lstStyle/>
          <a:p>
            <a:r>
              <a:rPr lang="en-SE" sz="1900" b="1" dirty="0">
                <a:cs typeface="Arial" panose="020B0604020202020204" pitchFamily="34" charset="0"/>
              </a:rPr>
              <a:t>Confidentiality</a:t>
            </a:r>
            <a:r>
              <a:rPr lang="en-US" sz="1900" dirty="0">
                <a:cs typeface="Arial" panose="020B0604020202020204" pitchFamily="34" charset="0"/>
              </a:rPr>
              <a:t>: </a:t>
            </a:r>
            <a:r>
              <a:rPr lang="en-GB" sz="1900" dirty="0">
                <a:solidFill>
                  <a:schemeClr val="accent1"/>
                </a:solidFill>
                <a:cs typeface="Arial" panose="020B0604020202020204" pitchFamily="34" charset="0"/>
              </a:rPr>
              <a:t>Obligation to protect personal or sensitive information from unauthorized access</a:t>
            </a:r>
            <a:endParaRPr lang="en-SE" sz="1900" dirty="0">
              <a:solidFill>
                <a:schemeClr val="accent1"/>
              </a:solidFill>
              <a:cs typeface="Arial" panose="020B0604020202020204" pitchFamily="34" charset="0"/>
            </a:endParaRPr>
          </a:p>
          <a:p>
            <a:pPr lvl="1"/>
            <a:r>
              <a:rPr lang="en-GB" sz="1700" dirty="0">
                <a:cs typeface="Arial" panose="020B0604020202020204" pitchFamily="34" charset="0"/>
              </a:rPr>
              <a:t>Ensure secure storage and handling of data collected from stakeholders during elicitation activities. Use encryption and access control for data storage systems.</a:t>
            </a:r>
          </a:p>
          <a:p>
            <a:pPr lvl="1"/>
            <a:r>
              <a:rPr lang="en-GB" sz="1700" dirty="0">
                <a:cs typeface="Arial" panose="020B0604020202020204" pitchFamily="34" charset="0"/>
              </a:rPr>
              <a:t>Ensure that sensitive healthcare data shared by stakeholders remains confidential and is only accessible by authorized personnel.</a:t>
            </a:r>
          </a:p>
          <a:p>
            <a:endParaRPr lang="en-SE" sz="2200" dirty="0">
              <a:cs typeface="Arial" panose="020B0604020202020204" pitchFamily="34" charset="0"/>
            </a:endParaRPr>
          </a:p>
          <a:p>
            <a:r>
              <a:rPr lang="en-GB" sz="1900" b="1" dirty="0">
                <a:cs typeface="Arial" panose="020B0604020202020204" pitchFamily="34" charset="0"/>
              </a:rPr>
              <a:t>Anonymisation</a:t>
            </a:r>
            <a:r>
              <a:rPr lang="en-GB" sz="1900" dirty="0">
                <a:cs typeface="Arial" panose="020B0604020202020204" pitchFamily="34" charset="0"/>
              </a:rPr>
              <a:t>: </a:t>
            </a:r>
            <a:r>
              <a:rPr lang="en-GB" sz="1900" dirty="0">
                <a:solidFill>
                  <a:schemeClr val="accent1"/>
                </a:solidFill>
                <a:cs typeface="Arial" panose="020B0604020202020204" pitchFamily="34" charset="0"/>
              </a:rPr>
              <a:t>A component of confidentiality involving not collecting any data that can be used to identify subjects; not even names</a:t>
            </a:r>
          </a:p>
          <a:p>
            <a:pPr lvl="1"/>
            <a:r>
              <a:rPr lang="en-GB" sz="1700" dirty="0">
                <a:cs typeface="Arial" panose="020B0604020202020204" pitchFamily="34" charset="0"/>
              </a:rPr>
              <a:t>Anonymise the data collected from participants during surveys, interviews, and focus groups where possible to protect their identities.</a:t>
            </a:r>
          </a:p>
          <a:p>
            <a:pPr lvl="1"/>
            <a:r>
              <a:rPr lang="en-GB" sz="1700" dirty="0">
                <a:cs typeface="Arial" panose="020B0604020202020204" pitchFamily="34" charset="0"/>
              </a:rPr>
              <a:t>Avoid collecting personally identifiable information unless absolutely necessary for the requirements process.</a:t>
            </a:r>
            <a:endParaRPr lang="en-SE" sz="1700" dirty="0">
              <a:cs typeface="Arial" panose="020B0604020202020204" pitchFamily="34" charset="0"/>
            </a:endParaRPr>
          </a:p>
        </p:txBody>
      </p:sp>
    </p:spTree>
    <p:extLst>
      <p:ext uri="{BB962C8B-B14F-4D97-AF65-F5344CB8AC3E}">
        <p14:creationId xmlns:p14="http://schemas.microsoft.com/office/powerpoint/2010/main" val="1077605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F0C9-C05C-D2C0-E361-B81130347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6B743-3279-FACC-D166-4C2EC85F0F3B}"/>
              </a:ext>
            </a:extLst>
          </p:cNvPr>
          <p:cNvSpPr>
            <a:spLocks noGrp="1"/>
          </p:cNvSpPr>
          <p:nvPr>
            <p:ph type="title"/>
          </p:nvPr>
        </p:nvSpPr>
        <p:spPr/>
        <p:txBody>
          <a:bodyPr>
            <a:normAutofit/>
          </a:bodyPr>
          <a:lstStyle/>
          <a:p>
            <a:r>
              <a:rPr lang="en-SE" sz="3200" dirty="0">
                <a:latin typeface="Georgia" panose="02040502050405020303" pitchFamily="18" charset="0"/>
              </a:rPr>
              <a:t>Ethical considerations: Requirements elicitation</a:t>
            </a:r>
          </a:p>
        </p:txBody>
      </p:sp>
      <p:sp>
        <p:nvSpPr>
          <p:cNvPr id="3" name="Content Placeholder 2">
            <a:extLst>
              <a:ext uri="{FF2B5EF4-FFF2-40B4-BE49-F238E27FC236}">
                <a16:creationId xmlns:a16="http://schemas.microsoft.com/office/drawing/2014/main" id="{0572CF14-74C6-18CE-4E10-08B46CEAEE89}"/>
              </a:ext>
            </a:extLst>
          </p:cNvPr>
          <p:cNvSpPr>
            <a:spLocks noGrp="1"/>
          </p:cNvSpPr>
          <p:nvPr>
            <p:ph idx="1"/>
          </p:nvPr>
        </p:nvSpPr>
        <p:spPr/>
        <p:txBody>
          <a:bodyPr>
            <a:normAutofit fontScale="77500" lnSpcReduction="20000"/>
          </a:bodyPr>
          <a:lstStyle/>
          <a:p>
            <a:r>
              <a:rPr lang="en-SE" sz="2500" b="1" dirty="0">
                <a:cs typeface="Arial" panose="020B0604020202020204" pitchFamily="34" charset="0"/>
              </a:rPr>
              <a:t>Informed Consent: </a:t>
            </a:r>
            <a:r>
              <a:rPr lang="en-SE" sz="2500" dirty="0">
                <a:solidFill>
                  <a:schemeClr val="accent1"/>
                </a:solidFill>
                <a:cs typeface="Arial" panose="020B0604020202020204" pitchFamily="34" charset="0"/>
              </a:rPr>
              <a:t>The </a:t>
            </a:r>
            <a:r>
              <a:rPr lang="en-GB" sz="2500" dirty="0">
                <a:solidFill>
                  <a:schemeClr val="accent1"/>
                </a:solidFill>
                <a:cs typeface="Arial" panose="020B0604020202020204" pitchFamily="34" charset="0"/>
              </a:rPr>
              <a:t>process of ensuring individuals understand the purpose, risks, and benefits of a proposed action, allowing them to voluntarily agree or decline based on transparent information (</a:t>
            </a:r>
            <a:r>
              <a:rPr lang="en-SE" sz="2500" dirty="0">
                <a:solidFill>
                  <a:schemeClr val="accent1"/>
                </a:solidFill>
                <a:cs typeface="Arial" panose="020B0604020202020204" pitchFamily="34" charset="0"/>
              </a:rPr>
              <a:t>a component of confidentiality)</a:t>
            </a:r>
            <a:r>
              <a:rPr lang="en-GB" sz="2500" dirty="0">
                <a:solidFill>
                  <a:schemeClr val="accent1"/>
                </a:solidFill>
                <a:cs typeface="Arial" panose="020B0604020202020204" pitchFamily="34" charset="0"/>
              </a:rPr>
              <a:t>.</a:t>
            </a:r>
            <a:endParaRPr lang="en-SE" dirty="0">
              <a:cs typeface="Arial" panose="020B0604020202020204" pitchFamily="34" charset="0"/>
            </a:endParaRPr>
          </a:p>
          <a:p>
            <a:pPr lvl="1"/>
            <a:r>
              <a:rPr lang="en-GB" sz="2200" dirty="0">
                <a:cs typeface="Arial" panose="020B0604020202020204" pitchFamily="34" charset="0"/>
              </a:rPr>
              <a:t>Ensure all participants (patients, healthcare providers) fully understand the purpose of the requirements elicitation process.</a:t>
            </a:r>
          </a:p>
          <a:p>
            <a:pPr lvl="1"/>
            <a:r>
              <a:rPr lang="en-GB" sz="2200" dirty="0">
                <a:cs typeface="Arial" panose="020B0604020202020204" pitchFamily="34" charset="0"/>
              </a:rPr>
              <a:t>Obtain explicit consent for interviews, surveys, and focus groups. Inform participants of their right to withdraw at any time.</a:t>
            </a:r>
          </a:p>
          <a:p>
            <a:pPr lvl="1"/>
            <a:r>
              <a:rPr lang="en-GB" sz="2200" dirty="0">
                <a:cs typeface="Arial" panose="020B0604020202020204" pitchFamily="34" charset="0"/>
              </a:rPr>
              <a:t>For real-time data collection systems, clearly explain how data from patients and healthcare providers will be gathered, stored, and used.</a:t>
            </a:r>
          </a:p>
          <a:p>
            <a:endParaRPr lang="en-GB" sz="2300" dirty="0">
              <a:latin typeface="+mj-lt"/>
              <a:cs typeface="Arial" panose="020B0604020202020204" pitchFamily="34" charset="0"/>
            </a:endParaRPr>
          </a:p>
          <a:p>
            <a:r>
              <a:rPr lang="en-GB" sz="2500" b="1" dirty="0">
                <a:latin typeface="+mj-lt"/>
                <a:cs typeface="Arial" panose="020B0604020202020204" pitchFamily="34" charset="0"/>
              </a:rPr>
              <a:t>Transparency:</a:t>
            </a:r>
            <a:r>
              <a:rPr lang="en-GB" sz="2500" dirty="0">
                <a:latin typeface="+mj-lt"/>
                <a:cs typeface="Arial" panose="020B0604020202020204" pitchFamily="34" charset="0"/>
              </a:rPr>
              <a:t> </a:t>
            </a:r>
            <a:r>
              <a:rPr lang="en-GB" sz="2500" dirty="0">
                <a:solidFill>
                  <a:schemeClr val="accent1"/>
                </a:solidFill>
                <a:latin typeface="+mj-lt"/>
                <a:cs typeface="Arial" panose="020B0604020202020204" pitchFamily="34" charset="0"/>
              </a:rPr>
              <a:t>O</a:t>
            </a:r>
            <a:r>
              <a:rPr lang="en-GB" sz="2500" dirty="0">
                <a:solidFill>
                  <a:schemeClr val="accent1"/>
                </a:solidFill>
                <a:cs typeface="Arial" panose="020B0604020202020204" pitchFamily="34" charset="0"/>
              </a:rPr>
              <a:t>penly and honestly communicating all relevant information, ensuring stakeholders are fully informed and able to make informed choices.</a:t>
            </a:r>
            <a:endParaRPr lang="en-GB" sz="2200" dirty="0">
              <a:cs typeface="Arial" panose="020B0604020202020204" pitchFamily="34" charset="0"/>
            </a:endParaRPr>
          </a:p>
          <a:p>
            <a:pPr lvl="1"/>
            <a:r>
              <a:rPr lang="en-GB" sz="2200" dirty="0">
                <a:cs typeface="Arial" panose="020B0604020202020204" pitchFamily="34" charset="0"/>
              </a:rPr>
              <a:t>Communicate openly with stakeholders about how the information gathered will be used for defining system requirements.</a:t>
            </a:r>
          </a:p>
          <a:p>
            <a:pPr lvl="1"/>
            <a:r>
              <a:rPr lang="en-GB" sz="2200" dirty="0">
                <a:cs typeface="Arial" panose="020B0604020202020204" pitchFamily="34" charset="0"/>
              </a:rPr>
              <a:t>Be clear about the scope and purpose of the project and the future use of the collected data, including how it may be used in development and for potential machine learning models.</a:t>
            </a:r>
            <a:endParaRPr lang="en-SE" sz="2200" dirty="0">
              <a:cs typeface="Arial" panose="020B0604020202020204" pitchFamily="34" charset="0"/>
            </a:endParaRPr>
          </a:p>
        </p:txBody>
      </p:sp>
    </p:spTree>
    <p:extLst>
      <p:ext uri="{BB962C8B-B14F-4D97-AF65-F5344CB8AC3E}">
        <p14:creationId xmlns:p14="http://schemas.microsoft.com/office/powerpoint/2010/main" val="88028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1730-9582-2939-909B-181249DD0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EF280-614B-350F-CB87-8517EBC61B74}"/>
              </a:ext>
            </a:extLst>
          </p:cNvPr>
          <p:cNvSpPr>
            <a:spLocks noGrp="1"/>
          </p:cNvSpPr>
          <p:nvPr>
            <p:ph type="title"/>
          </p:nvPr>
        </p:nvSpPr>
        <p:spPr/>
        <p:txBody>
          <a:bodyPr>
            <a:normAutofit/>
          </a:bodyPr>
          <a:lstStyle/>
          <a:p>
            <a:r>
              <a:rPr lang="en-SE" sz="3200" dirty="0">
                <a:latin typeface="Georgia" panose="02040502050405020303" pitchFamily="18" charset="0"/>
              </a:rPr>
              <a:t>Ethical considerations: Requirements elicitation</a:t>
            </a:r>
          </a:p>
        </p:txBody>
      </p:sp>
      <p:sp>
        <p:nvSpPr>
          <p:cNvPr id="3" name="Content Placeholder 2">
            <a:extLst>
              <a:ext uri="{FF2B5EF4-FFF2-40B4-BE49-F238E27FC236}">
                <a16:creationId xmlns:a16="http://schemas.microsoft.com/office/drawing/2014/main" id="{E81AE49C-DDB3-908A-B48D-08067ADEB89E}"/>
              </a:ext>
            </a:extLst>
          </p:cNvPr>
          <p:cNvSpPr>
            <a:spLocks noGrp="1"/>
          </p:cNvSpPr>
          <p:nvPr>
            <p:ph idx="1"/>
          </p:nvPr>
        </p:nvSpPr>
        <p:spPr/>
        <p:txBody>
          <a:bodyPr>
            <a:normAutofit/>
          </a:bodyPr>
          <a:lstStyle/>
          <a:p>
            <a:r>
              <a:rPr lang="en-SE" sz="1900" b="1" dirty="0">
                <a:cs typeface="Arial" panose="020B0604020202020204" pitchFamily="34" charset="0"/>
              </a:rPr>
              <a:t>Data minimisation: </a:t>
            </a:r>
            <a:r>
              <a:rPr lang="en-GB" sz="1900" dirty="0">
                <a:solidFill>
                  <a:schemeClr val="accent1"/>
                </a:solidFill>
                <a:cs typeface="Arial" panose="020B0604020202020204" pitchFamily="34" charset="0"/>
              </a:rPr>
              <a:t>Collecting only the data that is strictly necessary for a specific purpose</a:t>
            </a:r>
            <a:endParaRPr lang="en-SE" sz="1900" dirty="0">
              <a:cs typeface="Arial" panose="020B0604020202020204" pitchFamily="34" charset="0"/>
            </a:endParaRPr>
          </a:p>
          <a:p>
            <a:pPr lvl="1"/>
            <a:r>
              <a:rPr lang="en-GB" sz="1700" b="0" i="0" u="none" strike="noStrike" dirty="0">
                <a:solidFill>
                  <a:srgbClr val="000000"/>
                </a:solidFill>
                <a:effectLst/>
              </a:rPr>
              <a:t>Collect only the necessary data required for defining the requirements, avoiding excessive or intrusive data collection.</a:t>
            </a:r>
            <a:endParaRPr lang="en-GB" sz="1700" dirty="0">
              <a:cs typeface="Arial" panose="020B0604020202020204" pitchFamily="34" charset="0"/>
            </a:endParaRPr>
          </a:p>
        </p:txBody>
      </p:sp>
    </p:spTree>
    <p:extLst>
      <p:ext uri="{BB962C8B-B14F-4D97-AF65-F5344CB8AC3E}">
        <p14:creationId xmlns:p14="http://schemas.microsoft.com/office/powerpoint/2010/main" val="1883355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EF7CF-EFCC-9464-F541-7F7FA245D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96614-E1BF-C2D6-EDF5-74B252663167}"/>
              </a:ext>
            </a:extLst>
          </p:cNvPr>
          <p:cNvSpPr>
            <a:spLocks noGrp="1"/>
          </p:cNvSpPr>
          <p:nvPr>
            <p:ph type="title"/>
          </p:nvPr>
        </p:nvSpPr>
        <p:spPr/>
        <p:txBody>
          <a:bodyPr>
            <a:normAutofit/>
          </a:bodyPr>
          <a:lstStyle/>
          <a:p>
            <a:r>
              <a:rPr lang="en-SE" sz="3200" dirty="0">
                <a:latin typeface="Georgia" panose="02040502050405020303" pitchFamily="18" charset="0"/>
              </a:rPr>
              <a:t>Ethical Considerations: Requirements analysis</a:t>
            </a:r>
          </a:p>
        </p:txBody>
      </p:sp>
      <p:sp>
        <p:nvSpPr>
          <p:cNvPr id="3" name="Content Placeholder 2">
            <a:extLst>
              <a:ext uri="{FF2B5EF4-FFF2-40B4-BE49-F238E27FC236}">
                <a16:creationId xmlns:a16="http://schemas.microsoft.com/office/drawing/2014/main" id="{FEECB654-81DA-A45B-A6C0-6D32C81D196D}"/>
              </a:ext>
            </a:extLst>
          </p:cNvPr>
          <p:cNvSpPr>
            <a:spLocks noGrp="1"/>
          </p:cNvSpPr>
          <p:nvPr>
            <p:ph idx="1"/>
          </p:nvPr>
        </p:nvSpPr>
        <p:spPr/>
        <p:txBody>
          <a:bodyPr>
            <a:normAutofit/>
          </a:bodyPr>
          <a:lstStyle/>
          <a:p>
            <a:r>
              <a:rPr lang="en-SE" sz="1900" b="1" dirty="0"/>
              <a:t>Annonymisation:</a:t>
            </a:r>
            <a:r>
              <a:rPr lang="en-GB" sz="1900" dirty="0">
                <a:solidFill>
                  <a:schemeClr val="accent1"/>
                </a:solidFill>
                <a:cs typeface="Arial" panose="020B0604020202020204" pitchFamily="34" charset="0"/>
              </a:rPr>
              <a:t> A component of confidentiality involving not revealing any data that can be used to identify subjects</a:t>
            </a:r>
            <a:endParaRPr lang="en-SE" sz="1900" dirty="0"/>
          </a:p>
          <a:p>
            <a:pPr lvl="1"/>
            <a:r>
              <a:rPr lang="en-GB" sz="1700" b="0" i="0" u="none" strike="noStrike" dirty="0">
                <a:solidFill>
                  <a:srgbClr val="000000"/>
                </a:solidFill>
                <a:effectLst/>
              </a:rPr>
              <a:t>During analysis, patient and stakeholder data should be anonymised to prevent re-identification, particularly for unstructured data (e.g., notes from interviews).</a:t>
            </a:r>
          </a:p>
          <a:p>
            <a:pPr lvl="1"/>
            <a:endParaRPr lang="en-GB" sz="1800" dirty="0">
              <a:solidFill>
                <a:srgbClr val="000000"/>
              </a:solidFill>
            </a:endParaRPr>
          </a:p>
          <a:p>
            <a:pPr marL="457200" lvl="1" indent="0">
              <a:buNone/>
            </a:pPr>
            <a:endParaRPr lang="en-GB" sz="1800" dirty="0">
              <a:solidFill>
                <a:srgbClr val="000000"/>
              </a:solidFill>
            </a:endParaRPr>
          </a:p>
          <a:p>
            <a:r>
              <a:rPr lang="en-GB" sz="1900" b="1" dirty="0"/>
              <a:t>Regulatory Compliance: </a:t>
            </a:r>
            <a:r>
              <a:rPr lang="en-GB" sz="1900" dirty="0">
                <a:solidFill>
                  <a:schemeClr val="accent1"/>
                </a:solidFill>
                <a:cs typeface="Arial" panose="020B0604020202020204" pitchFamily="34" charset="0"/>
              </a:rPr>
              <a:t>refers to the adherence to laws, regulations, and guidelines relevant to an activity, ensuring that all legal standards are met</a:t>
            </a:r>
            <a:endParaRPr lang="en-GB" sz="1400" dirty="0">
              <a:solidFill>
                <a:srgbClr val="000000"/>
              </a:solidFill>
              <a:latin typeface="-webkit-standard"/>
            </a:endParaRPr>
          </a:p>
          <a:p>
            <a:pPr lvl="1"/>
            <a:r>
              <a:rPr lang="en-GB" sz="1700" dirty="0">
                <a:solidFill>
                  <a:srgbClr val="000000"/>
                </a:solidFill>
              </a:rPr>
              <a:t>Katerina’s team must ensure that all analysis activities comply with GDPR (in Europe) and any healthcare regulations like HIPAA (in the U.S.). Requirements analysis should align with these legal requirements to protect patient rights and privacy.</a:t>
            </a:r>
            <a:endParaRPr lang="en-SE" sz="1700" dirty="0">
              <a:solidFill>
                <a:srgbClr val="000000"/>
              </a:solidFill>
            </a:endParaRPr>
          </a:p>
        </p:txBody>
      </p:sp>
    </p:spTree>
    <p:extLst>
      <p:ext uri="{BB962C8B-B14F-4D97-AF65-F5344CB8AC3E}">
        <p14:creationId xmlns:p14="http://schemas.microsoft.com/office/powerpoint/2010/main" val="137525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BAA84-CA96-3D74-FDB7-4791E10CF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A1413-A790-9885-DE84-6625E5713AA6}"/>
              </a:ext>
            </a:extLst>
          </p:cNvPr>
          <p:cNvSpPr>
            <a:spLocks noGrp="1"/>
          </p:cNvSpPr>
          <p:nvPr>
            <p:ph type="title"/>
          </p:nvPr>
        </p:nvSpPr>
        <p:spPr/>
        <p:txBody>
          <a:bodyPr>
            <a:normAutofit/>
          </a:bodyPr>
          <a:lstStyle/>
          <a:p>
            <a:r>
              <a:rPr lang="en-SE" sz="3200" dirty="0">
                <a:latin typeface="Georgia" panose="02040502050405020303" pitchFamily="18" charset="0"/>
              </a:rPr>
              <a:t>Ethical Considerations: Requirements analysis</a:t>
            </a:r>
          </a:p>
        </p:txBody>
      </p:sp>
      <p:sp>
        <p:nvSpPr>
          <p:cNvPr id="3" name="Content Placeholder 2">
            <a:extLst>
              <a:ext uri="{FF2B5EF4-FFF2-40B4-BE49-F238E27FC236}">
                <a16:creationId xmlns:a16="http://schemas.microsoft.com/office/drawing/2014/main" id="{FEBD43AA-DBF6-7205-9142-370AB1DF6181}"/>
              </a:ext>
            </a:extLst>
          </p:cNvPr>
          <p:cNvSpPr>
            <a:spLocks noGrp="1"/>
          </p:cNvSpPr>
          <p:nvPr>
            <p:ph idx="1"/>
          </p:nvPr>
        </p:nvSpPr>
        <p:spPr/>
        <p:txBody>
          <a:bodyPr>
            <a:normAutofit fontScale="92500" lnSpcReduction="10000"/>
          </a:bodyPr>
          <a:lstStyle/>
          <a:p>
            <a:r>
              <a:rPr lang="en-SE" sz="2100" b="1" dirty="0"/>
              <a:t>Biases and fairness: </a:t>
            </a:r>
            <a:r>
              <a:rPr lang="en-GB" sz="2100" dirty="0">
                <a:solidFill>
                  <a:schemeClr val="accent1"/>
                </a:solidFill>
                <a:cs typeface="Arial" panose="020B0604020202020204" pitchFamily="34" charset="0"/>
              </a:rPr>
              <a:t>Biases are unfair preferences or prejudices that can affect decisions, and fairness means treating everyone equally and making sure no one is treated unfairly.</a:t>
            </a:r>
            <a:endParaRPr lang="en-SE" sz="2100" dirty="0"/>
          </a:p>
          <a:p>
            <a:pPr lvl="1"/>
            <a:r>
              <a:rPr lang="en-GB" sz="1800" dirty="0">
                <a:solidFill>
                  <a:srgbClr val="000000"/>
                </a:solidFill>
              </a:rPr>
              <a:t>As</a:t>
            </a:r>
            <a:r>
              <a:rPr lang="en-GB" sz="1800" b="0" i="0" u="none" strike="noStrike" dirty="0">
                <a:solidFill>
                  <a:srgbClr val="000000"/>
                </a:solidFill>
                <a:effectLst/>
              </a:rPr>
              <a:t> machine learning algorithms are applied to analyse the collected data, Katerina’s team must be cautious of introducing bias. The algorithms should be trained on diverse datasets to avoid systemic biases, especially those that could disadvantage certain patient populations.</a:t>
            </a:r>
          </a:p>
          <a:p>
            <a:pPr lvl="1"/>
            <a:r>
              <a:rPr lang="en-GB" sz="1800" dirty="0">
                <a:solidFill>
                  <a:srgbClr val="000000"/>
                </a:solidFill>
              </a:rPr>
              <a:t>Ensure requirements are unambiguous as ambiguity in requirements often leads to subjective or biased interpretations</a:t>
            </a:r>
          </a:p>
          <a:p>
            <a:pPr lvl="1"/>
            <a:endParaRPr lang="en-GB" sz="1800" dirty="0">
              <a:solidFill>
                <a:srgbClr val="000000"/>
              </a:solidFill>
            </a:endParaRPr>
          </a:p>
          <a:p>
            <a:r>
              <a:rPr lang="en-GB" sz="2100" b="1" dirty="0">
                <a:solidFill>
                  <a:srgbClr val="000000"/>
                </a:solidFill>
              </a:rPr>
              <a:t>Transparency:</a:t>
            </a:r>
            <a:r>
              <a:rPr lang="en-GB" sz="2100" dirty="0">
                <a:solidFill>
                  <a:srgbClr val="000000"/>
                </a:solidFill>
              </a:rPr>
              <a:t> </a:t>
            </a:r>
            <a:r>
              <a:rPr lang="en-GB" sz="2100" dirty="0">
                <a:solidFill>
                  <a:schemeClr val="accent1"/>
                </a:solidFill>
                <a:cs typeface="Arial" panose="020B0604020202020204" pitchFamily="34" charset="0"/>
              </a:rPr>
              <a:t>Openly and honestly communicating all relevant information about analysis, ensuring stakeholders are fully informed and able to make informed choices.</a:t>
            </a:r>
            <a:r>
              <a:rPr lang="en-GB" sz="2100" dirty="0">
                <a:solidFill>
                  <a:srgbClr val="000000"/>
                </a:solidFill>
              </a:rPr>
              <a:t> </a:t>
            </a:r>
            <a:endParaRPr lang="en-GB" sz="2200" dirty="0">
              <a:solidFill>
                <a:srgbClr val="000000"/>
              </a:solidFill>
            </a:endParaRPr>
          </a:p>
          <a:p>
            <a:pPr lvl="1"/>
            <a:r>
              <a:rPr lang="en-GB" sz="1800" dirty="0">
                <a:solidFill>
                  <a:srgbClr val="000000"/>
                </a:solidFill>
              </a:rPr>
              <a:t>Automated decision making: When advanced analytics or machine learning is used to automate part of the analysis, the team must be transparent with stakeholders about how automated tools are influencing requirements. Stakeholders must know that these tools may play a role in shaping </a:t>
            </a:r>
            <a:r>
              <a:rPr lang="en-GB" sz="1800" dirty="0" err="1">
                <a:solidFill>
                  <a:srgbClr val="000000"/>
                </a:solidFill>
              </a:rPr>
              <a:t>MediSync’s</a:t>
            </a:r>
            <a:r>
              <a:rPr lang="en-GB" sz="1800" dirty="0">
                <a:solidFill>
                  <a:srgbClr val="000000"/>
                </a:solidFill>
              </a:rPr>
              <a:t> development.</a:t>
            </a:r>
          </a:p>
        </p:txBody>
      </p:sp>
    </p:spTree>
    <p:extLst>
      <p:ext uri="{BB962C8B-B14F-4D97-AF65-F5344CB8AC3E}">
        <p14:creationId xmlns:p14="http://schemas.microsoft.com/office/powerpoint/2010/main" val="3336029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DFCE85-0849-FA2D-06A3-62F97FF790F1}"/>
              </a:ext>
            </a:extLst>
          </p:cNvPr>
          <p:cNvSpPr>
            <a:spLocks noGrp="1"/>
          </p:cNvSpPr>
          <p:nvPr>
            <p:ph type="title"/>
          </p:nvPr>
        </p:nvSpPr>
        <p:spPr>
          <a:xfrm>
            <a:off x="457200" y="24304"/>
            <a:ext cx="8229600" cy="706090"/>
          </a:xfrm>
        </p:spPr>
        <p:txBody>
          <a:bodyPr/>
          <a:lstStyle/>
          <a:p>
            <a:r>
              <a:rPr lang="en-US" dirty="0"/>
              <a:t>Proposed ethical framework for RE</a:t>
            </a:r>
          </a:p>
        </p:txBody>
      </p:sp>
      <p:pic>
        <p:nvPicPr>
          <p:cNvPr id="4" name="Picture 3">
            <a:extLst>
              <a:ext uri="{FF2B5EF4-FFF2-40B4-BE49-F238E27FC236}">
                <a16:creationId xmlns:a16="http://schemas.microsoft.com/office/drawing/2014/main" id="{4DF4ECA8-68A6-2363-7C17-24A3E3CDCCCD}"/>
              </a:ext>
            </a:extLst>
          </p:cNvPr>
          <p:cNvPicPr>
            <a:picLocks noChangeAspect="1"/>
          </p:cNvPicPr>
          <p:nvPr/>
        </p:nvPicPr>
        <p:blipFill>
          <a:blip r:embed="rId3"/>
          <a:stretch>
            <a:fillRect/>
          </a:stretch>
        </p:blipFill>
        <p:spPr>
          <a:xfrm>
            <a:off x="4876201" y="947633"/>
            <a:ext cx="4279864" cy="5020370"/>
          </a:xfrm>
          <a:prstGeom prst="rect">
            <a:avLst/>
          </a:prstGeom>
          <a:noFill/>
        </p:spPr>
      </p:pic>
      <p:sp>
        <p:nvSpPr>
          <p:cNvPr id="5" name="TextBox 4">
            <a:extLst>
              <a:ext uri="{FF2B5EF4-FFF2-40B4-BE49-F238E27FC236}">
                <a16:creationId xmlns:a16="http://schemas.microsoft.com/office/drawing/2014/main" id="{52CC461F-66F3-550D-AF0F-3D86C5CC42CE}"/>
              </a:ext>
            </a:extLst>
          </p:cNvPr>
          <p:cNvSpPr txBox="1"/>
          <p:nvPr/>
        </p:nvSpPr>
        <p:spPr>
          <a:xfrm>
            <a:off x="365709" y="5910367"/>
            <a:ext cx="8580584" cy="461665"/>
          </a:xfrm>
          <a:prstGeom prst="rect">
            <a:avLst/>
          </a:prstGeom>
          <a:noFill/>
        </p:spPr>
        <p:txBody>
          <a:bodyPr wrap="square" rtlCol="0">
            <a:spAutoFit/>
          </a:bodyPr>
          <a:lstStyle/>
          <a:p>
            <a:r>
              <a:rPr lang="en-GB" sz="1200" b="0" i="0" u="none" strike="noStrike" dirty="0" err="1">
                <a:solidFill>
                  <a:srgbClr val="222222"/>
                </a:solidFill>
                <a:effectLst/>
                <a:latin typeface="Arial" panose="020B0604020202020204" pitchFamily="34" charset="0"/>
              </a:rPr>
              <a:t>Biable</a:t>
            </a:r>
            <a:r>
              <a:rPr lang="en-GB" sz="1200" b="0" i="0" u="none" strike="noStrike" dirty="0">
                <a:solidFill>
                  <a:srgbClr val="222222"/>
                </a:solidFill>
                <a:effectLst/>
                <a:latin typeface="Arial" panose="020B0604020202020204" pitchFamily="34" charset="0"/>
              </a:rPr>
              <a:t>, </a:t>
            </a:r>
            <a:r>
              <a:rPr lang="en-GB" sz="1200" b="0" i="0" u="none" strike="noStrike" dirty="0" err="1">
                <a:solidFill>
                  <a:srgbClr val="222222"/>
                </a:solidFill>
                <a:effectLst/>
                <a:latin typeface="Arial" panose="020B0604020202020204" pitchFamily="34" charset="0"/>
              </a:rPr>
              <a:t>Seblewongel</a:t>
            </a:r>
            <a:r>
              <a:rPr lang="en-GB" sz="1200" b="0" i="0" u="none" strike="noStrike" dirty="0">
                <a:solidFill>
                  <a:srgbClr val="222222"/>
                </a:solidFill>
                <a:effectLst/>
                <a:latin typeface="Arial" panose="020B0604020202020204" pitchFamily="34" charset="0"/>
              </a:rPr>
              <a:t> E., Nuno M. Garcia, and Dida </a:t>
            </a:r>
            <a:r>
              <a:rPr lang="en-GB" sz="1200" b="0" i="0" u="none" strike="noStrike" dirty="0" err="1">
                <a:solidFill>
                  <a:srgbClr val="222222"/>
                </a:solidFill>
                <a:effectLst/>
                <a:latin typeface="Arial" panose="020B0604020202020204" pitchFamily="34" charset="0"/>
              </a:rPr>
              <a:t>Midekso</a:t>
            </a:r>
            <a:r>
              <a:rPr lang="en-GB" sz="1200" b="0" i="0" u="none" strike="noStrike" dirty="0">
                <a:solidFill>
                  <a:srgbClr val="222222"/>
                </a:solidFill>
                <a:effectLst/>
                <a:latin typeface="Arial" panose="020B0604020202020204" pitchFamily="34" charset="0"/>
              </a:rPr>
              <a:t>. "Proposed ethical framework for software requirements engineering." </a:t>
            </a:r>
            <a:r>
              <a:rPr lang="en-GB" sz="1200" b="0" i="1" u="none" strike="noStrike" dirty="0">
                <a:solidFill>
                  <a:srgbClr val="222222"/>
                </a:solidFill>
                <a:effectLst/>
                <a:latin typeface="Arial" panose="020B0604020202020204" pitchFamily="34" charset="0"/>
              </a:rPr>
              <a:t>IET Software</a:t>
            </a:r>
            <a:r>
              <a:rPr lang="en-GB" sz="1200" b="0" i="0" u="none" strike="noStrike" dirty="0">
                <a:solidFill>
                  <a:srgbClr val="222222"/>
                </a:solidFill>
                <a:effectLst/>
                <a:latin typeface="Arial" panose="020B0604020202020204" pitchFamily="34" charset="0"/>
              </a:rPr>
              <a:t> 17.4 (2023): 526-537</a:t>
            </a:r>
            <a:endParaRPr lang="en-SE" sz="1200" dirty="0"/>
          </a:p>
        </p:txBody>
      </p:sp>
      <p:sp>
        <p:nvSpPr>
          <p:cNvPr id="3" name="Content Placeholder 2">
            <a:extLst>
              <a:ext uri="{FF2B5EF4-FFF2-40B4-BE49-F238E27FC236}">
                <a16:creationId xmlns:a16="http://schemas.microsoft.com/office/drawing/2014/main" id="{B255E9AF-E6EB-696A-7CF2-77ED05D73E24}"/>
              </a:ext>
            </a:extLst>
          </p:cNvPr>
          <p:cNvSpPr>
            <a:spLocks noGrp="1"/>
          </p:cNvSpPr>
          <p:nvPr>
            <p:ph idx="1"/>
          </p:nvPr>
        </p:nvSpPr>
        <p:spPr>
          <a:xfrm>
            <a:off x="197708" y="947634"/>
            <a:ext cx="4893276" cy="5178532"/>
          </a:xfrm>
        </p:spPr>
        <p:txBody>
          <a:bodyPr>
            <a:normAutofit fontScale="55000" lnSpcReduction="20000"/>
          </a:bodyPr>
          <a:lstStyle/>
          <a:p>
            <a:r>
              <a:rPr lang="en-GB" sz="2900" dirty="0">
                <a:latin typeface="+mn-lt"/>
              </a:rPr>
              <a:t>Used as a practical guideline in Five Core Categories: </a:t>
            </a:r>
          </a:p>
          <a:p>
            <a:pPr marL="0" indent="0">
              <a:buNone/>
            </a:pPr>
            <a:r>
              <a:rPr lang="en-GB" sz="2900" dirty="0">
                <a:latin typeface="+mn-lt"/>
              </a:rPr>
              <a:t>     1- Ethics for Knowledge Gap (18 clauses)</a:t>
            </a:r>
          </a:p>
          <a:p>
            <a:pPr lvl="1"/>
            <a:r>
              <a:rPr lang="en-GB" sz="2900" dirty="0">
                <a:latin typeface="+mn-lt"/>
              </a:rPr>
              <a:t>Address lack of automation awareness, weak communication, and inadequate training.</a:t>
            </a:r>
          </a:p>
          <a:p>
            <a:pPr marL="0" indent="0">
              <a:buNone/>
            </a:pPr>
            <a:r>
              <a:rPr lang="en-GB" sz="2900" dirty="0">
                <a:latin typeface="+mn-lt"/>
              </a:rPr>
              <a:t>      2- Ethics for Requirements Identification (38 clauses)</a:t>
            </a:r>
          </a:p>
          <a:p>
            <a:pPr lvl="1"/>
            <a:r>
              <a:rPr lang="en-GB" sz="2900" dirty="0">
                <a:latin typeface="+mn-lt"/>
              </a:rPr>
              <a:t>Guidance for avoiding ambiguous, omitted, or irrelevant requirements.</a:t>
            </a:r>
          </a:p>
          <a:p>
            <a:pPr marL="0" indent="0">
              <a:buNone/>
            </a:pPr>
            <a:r>
              <a:rPr lang="en-GB" sz="2900" dirty="0">
                <a:latin typeface="+mn-lt"/>
              </a:rPr>
              <a:t>       3- Ethics for Requirements Quality (14 clauses)</a:t>
            </a:r>
          </a:p>
          <a:p>
            <a:pPr lvl="1"/>
            <a:r>
              <a:rPr lang="en-GB" sz="2900" dirty="0">
                <a:latin typeface="+mn-lt"/>
              </a:rPr>
              <a:t>Ensure security, privacy, and usability are ethically managed.</a:t>
            </a:r>
          </a:p>
          <a:p>
            <a:pPr marL="0" indent="0">
              <a:buNone/>
            </a:pPr>
            <a:r>
              <a:rPr lang="en-GB" sz="2900" dirty="0">
                <a:latin typeface="+mn-lt"/>
              </a:rPr>
              <a:t>         4- Ethics for Unwillingness/Disinclination (9 clauses)</a:t>
            </a:r>
          </a:p>
          <a:p>
            <a:pPr lvl="1"/>
            <a:r>
              <a:rPr lang="en-GB" sz="2900" dirty="0">
                <a:latin typeface="+mn-lt"/>
              </a:rPr>
              <a:t>Encourage transparency and participation from reluctant stakeholders.</a:t>
            </a:r>
          </a:p>
          <a:p>
            <a:pPr marL="0" indent="0">
              <a:buNone/>
            </a:pPr>
            <a:r>
              <a:rPr lang="en-GB" sz="2900" dirty="0">
                <a:latin typeface="+mn-lt"/>
              </a:rPr>
              <a:t>         5- Ethics for Forbidden Actions (31 clauses)</a:t>
            </a:r>
          </a:p>
          <a:p>
            <a:pPr lvl="1"/>
            <a:r>
              <a:rPr lang="en-GB" sz="2900" dirty="0">
                <a:latin typeface="+mn-lt"/>
              </a:rPr>
              <a:t>Prevent dishonesty, plagiarism, deception, and unethical behaviour.</a:t>
            </a:r>
          </a:p>
          <a:p>
            <a:pPr lvl="1"/>
            <a:endParaRPr lang="en-GB" sz="2900" dirty="0">
              <a:solidFill>
                <a:srgbClr val="000000"/>
              </a:solidFill>
              <a:latin typeface="+mn-lt"/>
            </a:endParaRPr>
          </a:p>
          <a:p>
            <a:r>
              <a:rPr lang="en-GB" sz="2900" dirty="0">
                <a:solidFill>
                  <a:srgbClr val="000000"/>
                </a:solidFill>
                <a:latin typeface="+mn-lt"/>
              </a:rPr>
              <a:t>Validated by </a:t>
            </a:r>
            <a:r>
              <a:rPr lang="en-GB" sz="2900" dirty="0">
                <a:latin typeface="+mn-lt"/>
              </a:rPr>
              <a:t>40 software professionals (</a:t>
            </a:r>
            <a:r>
              <a:rPr lang="en-GB" sz="2900" dirty="0" err="1">
                <a:latin typeface="+mn-lt"/>
              </a:rPr>
              <a:t>industry+academia</a:t>
            </a:r>
            <a:r>
              <a:rPr lang="en-GB" sz="2900" dirty="0">
                <a:latin typeface="+mn-lt"/>
              </a:rPr>
              <a:t>) via questionnaire, focus groups and discussions</a:t>
            </a:r>
          </a:p>
        </p:txBody>
      </p:sp>
    </p:spTree>
    <p:extLst>
      <p:ext uri="{BB962C8B-B14F-4D97-AF65-F5344CB8AC3E}">
        <p14:creationId xmlns:p14="http://schemas.microsoft.com/office/powerpoint/2010/main" val="441033282"/>
      </p:ext>
    </p:extLst>
  </p:cSld>
  <p:clrMapOvr>
    <a:masterClrMapping/>
  </p:clrMapOvr>
  <p:transition>
    <p:fade/>
  </p:transition>
</p:sld>
</file>

<file path=ppt/theme/theme1.xml><?xml version="1.0" encoding="utf-8"?>
<a:theme xmlns:a="http://schemas.openxmlformats.org/drawingml/2006/main" name="Chalmers-G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orlage">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Chalmers-Gu.thmx</Template>
  <TotalTime>33667</TotalTime>
  <Words>987</Words>
  <Application>Microsoft Macintosh PowerPoint</Application>
  <PresentationFormat>On-screen Show (4:3)</PresentationFormat>
  <Paragraphs>66</Paragraphs>
  <Slides>9</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-webkit-standard</vt:lpstr>
      <vt:lpstr>Arial</vt:lpstr>
      <vt:lpstr>Calibri</vt:lpstr>
      <vt:lpstr>Garamond</vt:lpstr>
      <vt:lpstr>Georgia</vt:lpstr>
      <vt:lpstr>Chalmers-Gu</vt:lpstr>
      <vt:lpstr>Vorlage</vt:lpstr>
      <vt:lpstr>Ethics and Requirements Engineering</vt:lpstr>
      <vt:lpstr>An example Scenario</vt:lpstr>
      <vt:lpstr>PowerPoint Presentation</vt:lpstr>
      <vt:lpstr>Ethical considerations: Requirements elicitation</vt:lpstr>
      <vt:lpstr>Ethical considerations: Requirements elicitation</vt:lpstr>
      <vt:lpstr>Ethical considerations: Requirements elicitation</vt:lpstr>
      <vt:lpstr>Ethical Considerations: Requirements analysis</vt:lpstr>
      <vt:lpstr>Ethical Considerations: Requirements analysis</vt:lpstr>
      <vt:lpstr>Proposed ethical framework for RE</vt:lpstr>
    </vt:vector>
  </TitlesOfParts>
  <Manager/>
  <Company>Chalmers | University of Gothenburg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Evolution Project</dc:title>
  <dc:subject/>
  <dc:creator>Eric Knauss</dc:creator>
  <cp:keywords/>
  <dc:description/>
  <cp:lastModifiedBy>Farnaz Fotrousi</cp:lastModifiedBy>
  <cp:revision>625</cp:revision>
  <dcterms:created xsi:type="dcterms:W3CDTF">2014-09-01T15:00:50Z</dcterms:created>
  <dcterms:modified xsi:type="dcterms:W3CDTF">2025-10-15T13:05:20Z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